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475" r:id="rId16"/>
    <p:sldId id="477" r:id="rId1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ehedialam806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HTML" TargetMode="External"/><Relationship Id="rId2" Type="http://schemas.openxmlformats.org/officeDocument/2006/relationships/hyperlink" Target="https://developer.mozilla.org/en-US/docs/DOM/styleshe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1518919"/>
            <a:ext cx="84582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AND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DEVELOPMENT 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404431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I’AM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428750"/>
            <a:ext cx="8229600" cy="2747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8314" marR="415290" indent="-1334770" algn="ctr">
              <a:lnSpc>
                <a:spcPct val="120200"/>
              </a:lnSpc>
              <a:spcBef>
                <a:spcPts val="95"/>
              </a:spcBef>
            </a:pPr>
            <a:r>
              <a:rPr lang="en-US" sz="2900" dirty="0">
                <a:latin typeface="Arial MT"/>
                <a:cs typeface="Arial MT"/>
              </a:rPr>
              <a:t>Mehedi Alam</a:t>
            </a:r>
          </a:p>
          <a:p>
            <a:pPr marL="1758314" marR="415290" indent="-1334770" algn="ctr">
              <a:lnSpc>
                <a:spcPct val="120200"/>
              </a:lnSpc>
              <a:spcBef>
                <a:spcPts val="95"/>
              </a:spcBef>
            </a:pPr>
            <a:r>
              <a:rPr lang="en-US" sz="2900" spc="-1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Trainer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spc="-25" dirty="0">
                <a:latin typeface="Arial MT"/>
                <a:cs typeface="Arial MT"/>
              </a:rPr>
              <a:t>o</a:t>
            </a:r>
            <a:r>
              <a:rPr sz="2900" spc="-25" dirty="0">
                <a:latin typeface="Arial MT"/>
                <a:cs typeface="Arial MT"/>
              </a:rPr>
              <a:t>f </a:t>
            </a:r>
            <a:endParaRPr lang="en-US" sz="2900" spc="-25" dirty="0">
              <a:latin typeface="Arial MT"/>
              <a:cs typeface="Arial MT"/>
            </a:endParaRPr>
          </a:p>
          <a:p>
            <a:pPr marL="1097915" marR="1090295" indent="994410" algn="ctr">
              <a:lnSpc>
                <a:spcPts val="4180"/>
              </a:lnSpc>
              <a:spcBef>
                <a:spcPts val="254"/>
              </a:spcBef>
            </a:pPr>
            <a:r>
              <a:rPr lang="en-US" sz="2900" spc="-25" dirty="0">
                <a:latin typeface="Arial MT"/>
                <a:cs typeface="Arial MT"/>
              </a:rPr>
              <a:t>Web Design and Development</a:t>
            </a:r>
            <a:r>
              <a:rPr sz="2900" spc="-20" dirty="0">
                <a:latin typeface="Arial MT"/>
                <a:cs typeface="Arial MT"/>
              </a:rPr>
              <a:t> 01</a:t>
            </a:r>
            <a:r>
              <a:rPr lang="en-US" sz="2900" spc="-20" dirty="0">
                <a:latin typeface="Arial MT"/>
                <a:cs typeface="Arial MT"/>
              </a:rPr>
              <a:t>772050842</a:t>
            </a:r>
            <a:endParaRPr sz="2900" dirty="0"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445"/>
              </a:spcBef>
            </a:pPr>
            <a:r>
              <a:rPr lang="en-US" sz="2900" spc="-10" dirty="0">
                <a:latin typeface="Arial MT"/>
                <a:cs typeface="Arial MT"/>
                <a:hlinkClick r:id="rId2"/>
              </a:rPr>
              <a:t>mehedialam806</a:t>
            </a:r>
            <a:r>
              <a:rPr sz="2900" spc="-10" dirty="0">
                <a:latin typeface="Arial MT"/>
                <a:cs typeface="Arial MT"/>
                <a:hlinkClick r:id="rId2"/>
              </a:rPr>
              <a:t>@gmail.com</a:t>
            </a:r>
            <a:endParaRPr sz="2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91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87983" y="1296670"/>
            <a:ext cx="7367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Class based Style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sheet </a:t>
            </a:r>
            <a:r>
              <a:rPr sz="3600" b="1" spc="-10" dirty="0">
                <a:latin typeface="Arial"/>
                <a:cs typeface="Arial"/>
              </a:rPr>
              <a:t>language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962150"/>
            <a:ext cx="624840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85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5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</a:t>
            </a:r>
            <a:r>
              <a:rPr sz="4000" spc="-30" dirty="0">
                <a:solidFill>
                  <a:srgbClr val="464646"/>
                </a:solidFill>
              </a:rPr>
              <a:t>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2223" y="1283715"/>
            <a:ext cx="8507730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 marR="5080" indent="-93980">
              <a:lnSpc>
                <a:spcPct val="100000"/>
              </a:lnSpc>
              <a:spcBef>
                <a:spcPts val="100"/>
              </a:spcBef>
            </a:pPr>
            <a:r>
              <a:rPr sz="3600" b="1" spc="-305" dirty="0">
                <a:latin typeface="Arial"/>
                <a:cs typeface="Arial"/>
              </a:rPr>
              <a:t>Cascading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95" dirty="0">
                <a:latin typeface="Arial"/>
                <a:cs typeface="Arial"/>
              </a:rPr>
              <a:t>Style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spc="-385" dirty="0">
                <a:latin typeface="Arial"/>
                <a:cs typeface="Arial"/>
              </a:rPr>
              <a:t>Sheets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spc="-480" dirty="0">
                <a:latin typeface="Arial MT"/>
                <a:cs typeface="Arial MT"/>
              </a:rPr>
              <a:t>(</a:t>
            </a:r>
            <a:r>
              <a:rPr sz="3600" b="1" spc="-480" dirty="0">
                <a:latin typeface="Arial"/>
                <a:cs typeface="Arial"/>
              </a:rPr>
              <a:t>CSS</a:t>
            </a:r>
            <a:r>
              <a:rPr sz="3600" spc="-480" dirty="0">
                <a:latin typeface="Arial MT"/>
                <a:cs typeface="Arial MT"/>
              </a:rPr>
              <a:t>)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spc="-315" dirty="0">
                <a:latin typeface="Arial MT"/>
                <a:cs typeface="Arial MT"/>
              </a:rPr>
              <a:t>is</a:t>
            </a:r>
            <a:r>
              <a:rPr sz="3600" dirty="0">
                <a:latin typeface="Arial MT"/>
                <a:cs typeface="Arial MT"/>
              </a:rPr>
              <a:t> a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u="sng" spc="-114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 MT"/>
                <a:cs typeface="Arial MT"/>
                <a:hlinkClick r:id="rId2"/>
              </a:rPr>
              <a:t>stylesheet</a:t>
            </a:r>
            <a:r>
              <a:rPr sz="3600" spc="-114" dirty="0">
                <a:solidFill>
                  <a:srgbClr val="FF8118"/>
                </a:solidFill>
                <a:latin typeface="Arial MT"/>
                <a:cs typeface="Arial MT"/>
              </a:rPr>
              <a:t> </a:t>
            </a:r>
            <a:r>
              <a:rPr sz="3600" spc="-155" dirty="0">
                <a:latin typeface="Arial MT"/>
                <a:cs typeface="Arial MT"/>
              </a:rPr>
              <a:t>language</a:t>
            </a:r>
            <a:r>
              <a:rPr sz="3600" spc="-95" dirty="0">
                <a:latin typeface="Arial MT"/>
                <a:cs typeface="Arial MT"/>
              </a:rPr>
              <a:t> </a:t>
            </a:r>
            <a:r>
              <a:rPr sz="3600" spc="-315" dirty="0">
                <a:latin typeface="Arial MT"/>
                <a:cs typeface="Arial MT"/>
              </a:rPr>
              <a:t>used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-114" dirty="0">
                <a:latin typeface="Arial MT"/>
                <a:cs typeface="Arial MT"/>
              </a:rPr>
              <a:t> </a:t>
            </a:r>
            <a:r>
              <a:rPr sz="3600" spc="-190" dirty="0">
                <a:latin typeface="Arial MT"/>
                <a:cs typeface="Arial MT"/>
              </a:rPr>
              <a:t>describe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spc="-215" dirty="0">
                <a:latin typeface="Arial MT"/>
                <a:cs typeface="Arial MT"/>
              </a:rPr>
              <a:t>the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-185" dirty="0">
                <a:latin typeface="Arial MT"/>
                <a:cs typeface="Arial MT"/>
              </a:rPr>
              <a:t>presentation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of</a:t>
            </a:r>
            <a:endParaRPr sz="3600">
              <a:latin typeface="Arial MT"/>
              <a:cs typeface="Arial MT"/>
            </a:endParaRPr>
          </a:p>
          <a:p>
            <a:pPr marL="298450" marR="183515" indent="-1270" algn="ctr">
              <a:lnSpc>
                <a:spcPct val="100000"/>
              </a:lnSpc>
            </a:pPr>
            <a:r>
              <a:rPr sz="3600" dirty="0">
                <a:latin typeface="Arial MT"/>
                <a:cs typeface="Arial MT"/>
              </a:rPr>
              <a:t>a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spc="-300" dirty="0">
                <a:latin typeface="Arial MT"/>
                <a:cs typeface="Arial MT"/>
              </a:rPr>
              <a:t>document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125" dirty="0">
                <a:latin typeface="Arial MT"/>
                <a:cs typeface="Arial MT"/>
              </a:rPr>
              <a:t>written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spc="-225" dirty="0">
                <a:latin typeface="Arial MT"/>
                <a:cs typeface="Arial MT"/>
              </a:rPr>
              <a:t>in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u="sng" spc="-49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 MT"/>
                <a:cs typeface="Arial MT"/>
                <a:hlinkClick r:id="rId3"/>
              </a:rPr>
              <a:t>HTML</a:t>
            </a:r>
            <a:r>
              <a:rPr sz="3600" spc="-20" dirty="0">
                <a:solidFill>
                  <a:srgbClr val="FF8118"/>
                </a:solidFill>
                <a:latin typeface="Arial MT"/>
                <a:cs typeface="Arial MT"/>
              </a:rPr>
              <a:t> </a:t>
            </a:r>
            <a:r>
              <a:rPr sz="3600" spc="-465" dirty="0">
                <a:latin typeface="Arial MT"/>
                <a:cs typeface="Arial MT"/>
              </a:rPr>
              <a:t>.CSS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105" dirty="0">
                <a:latin typeface="Arial MT"/>
                <a:cs typeface="Arial MT"/>
              </a:rPr>
              <a:t>describes </a:t>
            </a:r>
            <a:r>
              <a:rPr sz="3600" spc="-320" dirty="0">
                <a:latin typeface="Arial MT"/>
                <a:cs typeface="Arial MT"/>
              </a:rPr>
              <a:t>how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295" dirty="0">
                <a:latin typeface="Arial MT"/>
                <a:cs typeface="Arial MT"/>
              </a:rPr>
              <a:t>elements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285" dirty="0">
                <a:latin typeface="Arial MT"/>
                <a:cs typeface="Arial MT"/>
              </a:rPr>
              <a:t>should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be</a:t>
            </a:r>
            <a:r>
              <a:rPr sz="3600" spc="-220" dirty="0">
                <a:latin typeface="Arial MT"/>
                <a:cs typeface="Arial MT"/>
              </a:rPr>
              <a:t> </a:t>
            </a:r>
            <a:r>
              <a:rPr sz="3600" spc="-135" dirty="0">
                <a:latin typeface="Arial MT"/>
                <a:cs typeface="Arial MT"/>
              </a:rPr>
              <a:t>rendered</a:t>
            </a:r>
            <a:r>
              <a:rPr sz="3600" spc="-50" dirty="0">
                <a:latin typeface="Arial MT"/>
                <a:cs typeface="Arial MT"/>
              </a:rPr>
              <a:t> </a:t>
            </a:r>
            <a:r>
              <a:rPr sz="3600" spc="-320" dirty="0">
                <a:latin typeface="Arial MT"/>
                <a:cs typeface="Arial MT"/>
              </a:rPr>
              <a:t>on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320" dirty="0">
                <a:latin typeface="Arial MT"/>
                <a:cs typeface="Arial MT"/>
              </a:rPr>
              <a:t>screen,</a:t>
            </a:r>
            <a:endParaRPr sz="3600">
              <a:latin typeface="Arial MT"/>
              <a:cs typeface="Arial MT"/>
            </a:endParaRPr>
          </a:p>
          <a:p>
            <a:pPr marL="105410" algn="ctr">
              <a:lnSpc>
                <a:spcPct val="100000"/>
              </a:lnSpc>
              <a:spcBef>
                <a:spcPts val="25"/>
              </a:spcBef>
            </a:pPr>
            <a:r>
              <a:rPr sz="3600" spc="-320" dirty="0">
                <a:latin typeface="Arial MT"/>
                <a:cs typeface="Arial MT"/>
              </a:rPr>
              <a:t>on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105" dirty="0">
                <a:latin typeface="Arial MT"/>
                <a:cs typeface="Arial MT"/>
              </a:rPr>
              <a:t>paper,</a:t>
            </a:r>
            <a:r>
              <a:rPr sz="3600" spc="-145" dirty="0">
                <a:latin typeface="Arial MT"/>
                <a:cs typeface="Arial MT"/>
              </a:rPr>
              <a:t> </a:t>
            </a:r>
            <a:r>
              <a:rPr sz="3600" spc="-225" dirty="0">
                <a:latin typeface="Arial MT"/>
                <a:cs typeface="Arial MT"/>
              </a:rPr>
              <a:t>in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285" dirty="0">
                <a:latin typeface="Arial MT"/>
                <a:cs typeface="Arial MT"/>
              </a:rPr>
              <a:t>speech,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or</a:t>
            </a:r>
            <a:r>
              <a:rPr sz="3600" spc="-190" dirty="0">
                <a:latin typeface="Arial MT"/>
                <a:cs typeface="Arial MT"/>
              </a:rPr>
              <a:t> </a:t>
            </a:r>
            <a:r>
              <a:rPr sz="3600" spc="-320" dirty="0">
                <a:latin typeface="Arial MT"/>
                <a:cs typeface="Arial MT"/>
              </a:rPr>
              <a:t>on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170" dirty="0">
                <a:latin typeface="Arial MT"/>
                <a:cs typeface="Arial MT"/>
              </a:rPr>
              <a:t>other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media.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4104" rIns="0" bIns="0" rtlCol="0">
            <a:spAutoFit/>
          </a:bodyPr>
          <a:lstStyle/>
          <a:p>
            <a:pPr marL="151765" algn="ctr">
              <a:lnSpc>
                <a:spcPct val="100000"/>
              </a:lnSpc>
              <a:spcBef>
                <a:spcPts val="805"/>
              </a:spcBef>
            </a:pPr>
            <a:r>
              <a:rPr sz="3600" b="0" u="none" dirty="0">
                <a:latin typeface="Arial MT"/>
                <a:cs typeface="Arial MT"/>
              </a:rPr>
              <a:t>The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CSS</a:t>
            </a:r>
            <a:r>
              <a:rPr sz="3600" b="0" u="none" spc="-5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starts</a:t>
            </a:r>
            <a:r>
              <a:rPr sz="3600" b="0" u="none" spc="-2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in</a:t>
            </a:r>
            <a:r>
              <a:rPr sz="3600" b="0" u="none" spc="-5" dirty="0">
                <a:latin typeface="Arial MT"/>
                <a:cs typeface="Arial MT"/>
              </a:rPr>
              <a:t> </a:t>
            </a:r>
            <a:r>
              <a:rPr sz="3600" b="0" u="none" spc="-10" dirty="0">
                <a:latin typeface="Arial MT"/>
                <a:cs typeface="Arial MT"/>
              </a:rPr>
              <a:t>1994.</a:t>
            </a:r>
            <a:endParaRPr sz="3600">
              <a:latin typeface="Arial MT"/>
              <a:cs typeface="Arial MT"/>
            </a:endParaRPr>
          </a:p>
          <a:p>
            <a:pPr marL="151765" algn="ctr">
              <a:lnSpc>
                <a:spcPct val="100000"/>
              </a:lnSpc>
              <a:spcBef>
                <a:spcPts val="705"/>
              </a:spcBef>
            </a:pPr>
            <a:r>
              <a:rPr sz="3600" b="0" u="none" dirty="0">
                <a:latin typeface="Arial MT"/>
                <a:cs typeface="Arial MT"/>
              </a:rPr>
              <a:t>By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Håkon</a:t>
            </a:r>
            <a:r>
              <a:rPr sz="3600" b="0" u="none" spc="-15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Wium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Lie.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He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was</a:t>
            </a:r>
            <a:r>
              <a:rPr sz="3600" b="0" u="none" spc="-10" dirty="0">
                <a:latin typeface="Arial MT"/>
                <a:cs typeface="Arial MT"/>
              </a:rPr>
              <a:t> </a:t>
            </a:r>
            <a:r>
              <a:rPr sz="3600" b="0" u="none" dirty="0">
                <a:latin typeface="Arial MT"/>
                <a:cs typeface="Arial MT"/>
              </a:rPr>
              <a:t>worked</a:t>
            </a:r>
            <a:r>
              <a:rPr sz="3600" b="0" u="none" spc="-5" dirty="0">
                <a:latin typeface="Arial MT"/>
                <a:cs typeface="Arial MT"/>
              </a:rPr>
              <a:t> </a:t>
            </a:r>
            <a:r>
              <a:rPr sz="3600" b="0" u="none" spc="-25" dirty="0">
                <a:latin typeface="Arial MT"/>
                <a:cs typeface="Arial MT"/>
              </a:rPr>
              <a:t>at</a:t>
            </a:r>
            <a:endParaRPr sz="3600">
              <a:latin typeface="Arial MT"/>
              <a:cs typeface="Arial MT"/>
            </a:endParaRPr>
          </a:p>
          <a:p>
            <a:pPr marL="664845" algn="ctr">
              <a:lnSpc>
                <a:spcPct val="100000"/>
              </a:lnSpc>
            </a:pPr>
            <a:r>
              <a:rPr sz="3600" b="0" u="none" dirty="0">
                <a:latin typeface="Arial MT"/>
                <a:cs typeface="Arial MT"/>
              </a:rPr>
              <a:t>CERN</a:t>
            </a:r>
            <a:r>
              <a:rPr sz="3600" b="0" u="none" spc="-105" dirty="0">
                <a:latin typeface="Arial MT"/>
                <a:cs typeface="Arial MT"/>
              </a:rPr>
              <a:t> </a:t>
            </a:r>
            <a:r>
              <a:rPr sz="3600" b="0" u="none" spc="-50" dirty="0">
                <a:latin typeface="Arial MT"/>
                <a:cs typeface="Arial MT"/>
              </a:rPr>
              <a:t>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297" rIns="0" bIns="0" rtlCol="0">
            <a:spAutoFit/>
          </a:bodyPr>
          <a:lstStyle/>
          <a:p>
            <a:pPr marL="151765" algn="ctr">
              <a:lnSpc>
                <a:spcPct val="100000"/>
              </a:lnSpc>
              <a:spcBef>
                <a:spcPts val="465"/>
              </a:spcBef>
            </a:pPr>
            <a:r>
              <a:rPr sz="3600" spc="-10" dirty="0"/>
              <a:t>SYNTAX</a:t>
            </a:r>
            <a:endParaRPr sz="3600"/>
          </a:p>
          <a:p>
            <a:pPr marL="152400" algn="ctr">
              <a:lnSpc>
                <a:spcPct val="100000"/>
              </a:lnSpc>
              <a:spcBef>
                <a:spcPts val="545"/>
              </a:spcBef>
            </a:pPr>
            <a:r>
              <a:rPr sz="5400" b="0" i="1" u="none" spc="-400" dirty="0">
                <a:latin typeface="Arial"/>
                <a:cs typeface="Arial"/>
              </a:rPr>
              <a:t>Selector</a:t>
            </a:r>
            <a:r>
              <a:rPr sz="5400" b="0" i="1" u="none" spc="10" dirty="0">
                <a:latin typeface="Arial"/>
                <a:cs typeface="Arial"/>
              </a:rPr>
              <a:t> </a:t>
            </a:r>
            <a:r>
              <a:rPr sz="5400" b="0" u="none" spc="-50" dirty="0">
                <a:latin typeface="Arial MT"/>
                <a:cs typeface="Arial MT"/>
              </a:rPr>
              <a:t>{</a:t>
            </a:r>
            <a:endParaRPr sz="5400">
              <a:latin typeface="Arial MT"/>
              <a:cs typeface="Arial MT"/>
            </a:endParaRPr>
          </a:p>
          <a:p>
            <a:pPr marL="151765" algn="ctr">
              <a:lnSpc>
                <a:spcPct val="100000"/>
              </a:lnSpc>
              <a:spcBef>
                <a:spcPts val="700"/>
              </a:spcBef>
            </a:pPr>
            <a:r>
              <a:rPr sz="5400" b="0" i="1" u="none" spc="-345" dirty="0">
                <a:latin typeface="Arial"/>
                <a:cs typeface="Arial"/>
              </a:rPr>
              <a:t>Property</a:t>
            </a:r>
            <a:r>
              <a:rPr sz="5400" b="0" i="1" u="none" spc="-30" dirty="0">
                <a:latin typeface="Arial"/>
                <a:cs typeface="Arial"/>
              </a:rPr>
              <a:t> </a:t>
            </a:r>
            <a:r>
              <a:rPr sz="5400" b="0" i="1" u="none" dirty="0">
                <a:latin typeface="Arial"/>
                <a:cs typeface="Arial"/>
              </a:rPr>
              <a:t>:</a:t>
            </a:r>
            <a:r>
              <a:rPr sz="5400" b="0" i="1" u="none" spc="-30" dirty="0">
                <a:latin typeface="Arial"/>
                <a:cs typeface="Arial"/>
              </a:rPr>
              <a:t> </a:t>
            </a:r>
            <a:r>
              <a:rPr sz="5400" b="0" i="1" u="none" spc="-360" dirty="0">
                <a:latin typeface="Arial"/>
                <a:cs typeface="Arial"/>
              </a:rPr>
              <a:t>value</a:t>
            </a:r>
            <a:r>
              <a:rPr sz="5400" b="0" u="none" spc="-360" dirty="0">
                <a:latin typeface="Arial MT"/>
                <a:cs typeface="Arial MT"/>
              </a:rPr>
              <a:t>;</a:t>
            </a:r>
            <a:endParaRPr sz="5400">
              <a:latin typeface="Arial MT"/>
              <a:cs typeface="Arial MT"/>
            </a:endParaRPr>
          </a:p>
          <a:p>
            <a:pPr marL="151765" algn="ctr">
              <a:lnSpc>
                <a:spcPct val="100000"/>
              </a:lnSpc>
              <a:spcBef>
                <a:spcPts val="730"/>
              </a:spcBef>
            </a:pPr>
            <a:r>
              <a:rPr sz="5400" b="0" u="none" spc="-50" dirty="0">
                <a:latin typeface="Arial MT"/>
                <a:cs typeface="Arial MT"/>
              </a:rPr>
              <a:t>}</a:t>
            </a:r>
            <a:endParaRPr sz="5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75030" y="1195630"/>
            <a:ext cx="7393305" cy="32258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3600" b="1" u="sng" spc="-3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SELECTOR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3600" b="1" dirty="0">
                <a:latin typeface="Arial"/>
                <a:cs typeface="Arial"/>
              </a:rPr>
              <a:t>Selector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represent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by many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ways.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3600" b="1" dirty="0">
                <a:latin typeface="Arial"/>
                <a:cs typeface="Arial"/>
              </a:rPr>
              <a:t>Basically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Its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might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be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2</a:t>
            </a:r>
            <a:r>
              <a:rPr sz="3600" b="1" spc="-20" dirty="0">
                <a:latin typeface="Arial"/>
                <a:cs typeface="Arial"/>
              </a:rPr>
              <a:t> way:</a:t>
            </a:r>
            <a:endParaRPr sz="3600">
              <a:latin typeface="Arial"/>
              <a:cs typeface="Arial"/>
            </a:endParaRPr>
          </a:p>
          <a:p>
            <a:pPr marL="2374900" indent="-50800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374900" algn="l"/>
              </a:tabLst>
            </a:pPr>
            <a:r>
              <a:rPr sz="3600" b="1" dirty="0">
                <a:latin typeface="Arial"/>
                <a:cs typeface="Arial"/>
              </a:rPr>
              <a:t>Html tag </a:t>
            </a:r>
            <a:r>
              <a:rPr sz="3600" b="1" spc="-20" dirty="0"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2045335" indent="-50800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2045335" algn="l"/>
              </a:tabLst>
            </a:pPr>
            <a:r>
              <a:rPr sz="3600" b="1" dirty="0">
                <a:latin typeface="Arial"/>
                <a:cs typeface="Arial"/>
              </a:rPr>
              <a:t>User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define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60830" y="1207819"/>
            <a:ext cx="6020435" cy="257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300"/>
              </a:lnSpc>
              <a:spcBef>
                <a:spcPts val="95"/>
              </a:spcBef>
            </a:pPr>
            <a:r>
              <a:rPr sz="3600" b="1" dirty="0">
                <a:latin typeface="Arial"/>
                <a:cs typeface="Arial"/>
              </a:rPr>
              <a:t>How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to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call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&amp;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How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to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define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13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Selector??</a:t>
            </a:r>
            <a:endParaRPr sz="3600">
              <a:latin typeface="Arial"/>
              <a:cs typeface="Arial"/>
            </a:endParaRPr>
          </a:p>
          <a:p>
            <a:pPr marL="1784985" marR="1774189" indent="-1270" algn="ctr">
              <a:lnSpc>
                <a:spcPct val="116100"/>
              </a:lnSpc>
              <a:spcBef>
                <a:spcPts val="5"/>
              </a:spcBef>
              <a:tabLst>
                <a:tab pos="2495550" algn="l"/>
                <a:tab pos="3016250" algn="l"/>
                <a:tab pos="3589654" algn="l"/>
                <a:tab pos="4110354" algn="l"/>
              </a:tabLst>
            </a:pPr>
            <a:r>
              <a:rPr sz="3600" b="1" spc="-25" dirty="0">
                <a:latin typeface="Arial"/>
                <a:cs typeface="Arial"/>
              </a:rPr>
              <a:t>ID</a:t>
            </a:r>
            <a:r>
              <a:rPr sz="3600" b="1" dirty="0">
                <a:latin typeface="Arial"/>
                <a:cs typeface="Arial"/>
              </a:rPr>
              <a:t>	</a:t>
            </a:r>
            <a:r>
              <a:rPr sz="3600" b="1" spc="-50" dirty="0">
                <a:latin typeface="Arial"/>
                <a:cs typeface="Arial"/>
              </a:rPr>
              <a:t>=</a:t>
            </a:r>
            <a:r>
              <a:rPr sz="3600" b="1" dirty="0">
                <a:latin typeface="Arial"/>
                <a:cs typeface="Arial"/>
              </a:rPr>
              <a:t>	</a:t>
            </a:r>
            <a:r>
              <a:rPr sz="3600" b="1" spc="-50" dirty="0">
                <a:latin typeface="Arial"/>
                <a:cs typeface="Arial"/>
              </a:rPr>
              <a:t># </a:t>
            </a:r>
            <a:r>
              <a:rPr sz="3600" b="1" spc="-10" dirty="0">
                <a:latin typeface="Arial"/>
                <a:cs typeface="Arial"/>
              </a:rPr>
              <a:t>CLASS</a:t>
            </a:r>
            <a:r>
              <a:rPr sz="3600" b="1" dirty="0">
                <a:latin typeface="Arial"/>
                <a:cs typeface="Arial"/>
              </a:rPr>
              <a:t>	</a:t>
            </a:r>
            <a:r>
              <a:rPr sz="3600" b="1" spc="-50" dirty="0">
                <a:latin typeface="Arial"/>
                <a:cs typeface="Arial"/>
              </a:rPr>
              <a:t>=</a:t>
            </a:r>
            <a:r>
              <a:rPr sz="3600" b="1" dirty="0">
                <a:latin typeface="Arial"/>
                <a:cs typeface="Arial"/>
              </a:rPr>
              <a:t>	</a:t>
            </a:r>
            <a:r>
              <a:rPr sz="3600" b="1" spc="-50" dirty="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253" rIns="0" bIns="0" rtlCol="0">
            <a:spAutoFit/>
          </a:bodyPr>
          <a:lstStyle/>
          <a:p>
            <a:pPr marL="147320" algn="ctr">
              <a:lnSpc>
                <a:spcPct val="100000"/>
              </a:lnSpc>
              <a:spcBef>
                <a:spcPts val="894"/>
              </a:spcBef>
            </a:pPr>
            <a:r>
              <a:rPr sz="3800" spc="-190" dirty="0"/>
              <a:t>CSS</a:t>
            </a:r>
            <a:r>
              <a:rPr sz="3800" spc="-50" dirty="0"/>
              <a:t> </a:t>
            </a:r>
            <a:r>
              <a:rPr sz="3800" spc="-170" dirty="0"/>
              <a:t>CLASS</a:t>
            </a:r>
            <a:r>
              <a:rPr sz="3800" spc="-60" dirty="0"/>
              <a:t> </a:t>
            </a:r>
            <a:r>
              <a:rPr sz="3800" spc="-170" dirty="0"/>
              <a:t>APPLY</a:t>
            </a:r>
            <a:r>
              <a:rPr sz="3800" spc="-30" dirty="0"/>
              <a:t> </a:t>
            </a:r>
            <a:r>
              <a:rPr sz="3800" spc="-409" dirty="0"/>
              <a:t>IN</a:t>
            </a:r>
            <a:r>
              <a:rPr sz="3800" dirty="0"/>
              <a:t> </a:t>
            </a:r>
            <a:r>
              <a:rPr sz="3800" spc="-565" dirty="0"/>
              <a:t>HTML</a:t>
            </a:r>
            <a:r>
              <a:rPr sz="3800" spc="5" dirty="0"/>
              <a:t> </a:t>
            </a:r>
            <a:r>
              <a:rPr sz="3800" dirty="0"/>
              <a:t>BY3</a:t>
            </a:r>
            <a:r>
              <a:rPr sz="3800" spc="-30" dirty="0"/>
              <a:t> </a:t>
            </a:r>
            <a:r>
              <a:rPr sz="3800" spc="-285" dirty="0"/>
              <a:t>WAYS</a:t>
            </a:r>
            <a:endParaRPr sz="3800"/>
          </a:p>
          <a:p>
            <a:pPr marL="2914650" marR="2752725" indent="-1270" algn="ctr">
              <a:lnSpc>
                <a:spcPct val="116199"/>
              </a:lnSpc>
              <a:spcBef>
                <a:spcPts val="55"/>
              </a:spcBef>
            </a:pPr>
            <a:r>
              <a:rPr sz="3600" u="none" dirty="0">
                <a:latin typeface="Arial"/>
                <a:cs typeface="Arial"/>
              </a:rPr>
              <a:t>Inline</a:t>
            </a:r>
            <a:r>
              <a:rPr sz="3600" u="none" spc="-10" dirty="0">
                <a:latin typeface="Arial"/>
                <a:cs typeface="Arial"/>
              </a:rPr>
              <a:t> </a:t>
            </a:r>
            <a:r>
              <a:rPr sz="3600" u="none" spc="-25" dirty="0">
                <a:latin typeface="Arial"/>
                <a:cs typeface="Arial"/>
              </a:rPr>
              <a:t>CSS </a:t>
            </a:r>
            <a:r>
              <a:rPr sz="3600" u="none" dirty="0">
                <a:latin typeface="Arial"/>
                <a:cs typeface="Arial"/>
              </a:rPr>
              <a:t>Internal</a:t>
            </a:r>
            <a:r>
              <a:rPr sz="3600" u="none" spc="-15" dirty="0">
                <a:latin typeface="Arial"/>
                <a:cs typeface="Arial"/>
              </a:rPr>
              <a:t> </a:t>
            </a:r>
            <a:r>
              <a:rPr sz="3600" u="none" spc="-25" dirty="0">
                <a:latin typeface="Arial"/>
                <a:cs typeface="Arial"/>
              </a:rPr>
              <a:t>CSS </a:t>
            </a:r>
            <a:r>
              <a:rPr sz="3600" u="none" dirty="0">
                <a:latin typeface="Arial"/>
                <a:cs typeface="Arial"/>
              </a:rPr>
              <a:t>External </a:t>
            </a:r>
            <a:r>
              <a:rPr sz="3600" u="none" spc="-25" dirty="0">
                <a:latin typeface="Arial"/>
                <a:cs typeface="Arial"/>
              </a:rPr>
              <a:t>CSS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12495" y="1192882"/>
            <a:ext cx="8318500" cy="271272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50"/>
              </a:spcBef>
            </a:pPr>
            <a:r>
              <a:rPr sz="4000" b="1" u="sng" spc="-4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INLINE</a:t>
            </a:r>
            <a:r>
              <a:rPr sz="40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CSS</a:t>
            </a:r>
            <a:endParaRPr sz="4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4000" b="1" dirty="0">
                <a:latin typeface="Arial"/>
                <a:cs typeface="Arial"/>
              </a:rPr>
              <a:t>attribute=“properties</a:t>
            </a:r>
            <a:r>
              <a:rPr sz="4000" b="1" spc="-50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:</a:t>
            </a:r>
            <a:r>
              <a:rPr sz="4000" b="1" spc="-45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value;”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latin typeface="Arial"/>
                <a:cs typeface="Arial"/>
              </a:rPr>
              <a:t>&lt;p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style=“color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: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black;”&gt;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HELLO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&lt;/p&gt;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6480" y="205028"/>
            <a:ext cx="7280275" cy="400304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sz="4000" b="1" dirty="0">
                <a:solidFill>
                  <a:srgbClr val="39629D"/>
                </a:solidFill>
                <a:latin typeface="Arial"/>
                <a:cs typeface="Arial"/>
              </a:rPr>
              <a:t>CSS</a:t>
            </a:r>
            <a:r>
              <a:rPr sz="4000" b="1" spc="-2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64646"/>
                </a:solidFill>
                <a:latin typeface="Arial"/>
                <a:cs typeface="Arial"/>
              </a:rPr>
              <a:t>(Cascading</a:t>
            </a:r>
            <a:r>
              <a:rPr sz="4000" b="1" spc="-2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64646"/>
                </a:solidFill>
                <a:latin typeface="Arial"/>
                <a:cs typeface="Arial"/>
              </a:rPr>
              <a:t>Style </a:t>
            </a:r>
            <a:r>
              <a:rPr sz="4000" b="1" spc="-10" dirty="0">
                <a:solidFill>
                  <a:srgbClr val="464646"/>
                </a:solidFill>
                <a:latin typeface="Arial"/>
                <a:cs typeface="Arial"/>
              </a:rPr>
              <a:t>Sheets)</a:t>
            </a:r>
            <a:endParaRPr sz="4000">
              <a:latin typeface="Arial"/>
              <a:cs typeface="Arial"/>
            </a:endParaRPr>
          </a:p>
          <a:p>
            <a:pPr marR="220345" algn="ctr">
              <a:lnSpc>
                <a:spcPct val="100000"/>
              </a:lnSpc>
              <a:spcBef>
                <a:spcPts val="1864"/>
              </a:spcBef>
            </a:pPr>
            <a:r>
              <a:rPr sz="4000" b="1" u="sng" spc="-3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INTERNAL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CSS</a:t>
            </a:r>
            <a:endParaRPr sz="4000">
              <a:latin typeface="Times New Roman"/>
              <a:cs typeface="Times New Roman"/>
            </a:endParaRPr>
          </a:p>
          <a:p>
            <a:pPr marR="220345" algn="ctr">
              <a:lnSpc>
                <a:spcPct val="100000"/>
              </a:lnSpc>
              <a:spcBef>
                <a:spcPts val="745"/>
              </a:spcBef>
            </a:pPr>
            <a:r>
              <a:rPr sz="4400" b="1" spc="-10" dirty="0">
                <a:latin typeface="Arial"/>
                <a:cs typeface="Arial"/>
              </a:rPr>
              <a:t>&lt;style&gt;</a:t>
            </a:r>
            <a:endParaRPr sz="4400">
              <a:latin typeface="Arial"/>
              <a:cs typeface="Arial"/>
            </a:endParaRPr>
          </a:p>
          <a:p>
            <a:pPr marR="220345" algn="ctr">
              <a:lnSpc>
                <a:spcPct val="100000"/>
              </a:lnSpc>
              <a:spcBef>
                <a:spcPts val="700"/>
              </a:spcBef>
            </a:pPr>
            <a:r>
              <a:rPr sz="4400" b="1" dirty="0">
                <a:latin typeface="Arial"/>
                <a:cs typeface="Arial"/>
              </a:rPr>
              <a:t>{</a:t>
            </a:r>
            <a:r>
              <a:rPr sz="3600" b="1" dirty="0">
                <a:latin typeface="Arial"/>
                <a:cs typeface="Arial"/>
              </a:rPr>
              <a:t>CSS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Selector</a:t>
            </a:r>
            <a:r>
              <a:rPr sz="3600" b="1" spc="-10" dirty="0">
                <a:latin typeface="Arial"/>
                <a:cs typeface="Arial"/>
              </a:rPr>
              <a:t> Here</a:t>
            </a:r>
            <a:r>
              <a:rPr sz="4400" b="1" spc="-10" dirty="0">
                <a:latin typeface="Arial"/>
                <a:cs typeface="Arial"/>
              </a:rPr>
              <a:t>}</a:t>
            </a:r>
            <a:endParaRPr sz="4400">
              <a:latin typeface="Arial"/>
              <a:cs typeface="Arial"/>
            </a:endParaRPr>
          </a:p>
          <a:p>
            <a:pPr marR="220979" algn="ctr">
              <a:lnSpc>
                <a:spcPct val="100000"/>
              </a:lnSpc>
              <a:spcBef>
                <a:spcPts val="700"/>
              </a:spcBef>
            </a:pPr>
            <a:r>
              <a:rPr sz="4400" b="1" spc="-10" dirty="0">
                <a:latin typeface="Arial"/>
                <a:cs typeface="Arial"/>
              </a:rPr>
              <a:t>&lt;/style&gt;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780029" y="1288287"/>
            <a:ext cx="35839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u="sng" spc="-2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EXTERNAL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CSS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9900" y="2314955"/>
            <a:ext cx="3469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Arial"/>
                <a:cs typeface="Arial"/>
              </a:rPr>
              <a:t>File </a:t>
            </a:r>
            <a:r>
              <a:rPr sz="4000" b="1" spc="-10" dirty="0">
                <a:latin typeface="Arial"/>
                <a:cs typeface="Arial"/>
              </a:rPr>
              <a:t>Extension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6750" y="1985010"/>
            <a:ext cx="16579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20" dirty="0">
                <a:latin typeface="Arial"/>
                <a:cs typeface="Arial"/>
              </a:rPr>
              <a:t>.css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4742" y="1288287"/>
            <a:ext cx="8954770" cy="191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000" b="1" u="sng" spc="-2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EXTERNAL</a:t>
            </a:r>
            <a:r>
              <a:rPr sz="4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CSS</a:t>
            </a:r>
            <a:r>
              <a:rPr sz="40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4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LINK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4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dirty="0">
                <a:latin typeface="Arial MT"/>
                <a:cs typeface="Arial MT"/>
              </a:rPr>
              <a:t>&lt;link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rel="stylesheet"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href=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"filename.css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" </a:t>
            </a:r>
            <a:r>
              <a:rPr sz="3600" spc="-50" dirty="0">
                <a:latin typeface="Arial MT"/>
                <a:cs typeface="Arial MT"/>
              </a:rPr>
              <a:t>&gt;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164146"/>
            <a:ext cx="6682105" cy="30765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726179">
              <a:lnSpc>
                <a:spcPct val="100000"/>
              </a:lnSpc>
              <a:spcBef>
                <a:spcPts val="1080"/>
              </a:spcBef>
            </a:pPr>
            <a:r>
              <a:rPr sz="4000" b="1" u="sng" spc="-5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COLOR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3</a:t>
            </a:r>
            <a:r>
              <a:rPr sz="3200" u="sng" spc="-2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way</a:t>
            </a:r>
            <a:r>
              <a:rPr sz="32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to</a:t>
            </a:r>
            <a:r>
              <a:rPr sz="3200" u="sng" spc="-2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use</a:t>
            </a:r>
            <a:r>
              <a:rPr sz="3200" u="sng" spc="-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color</a:t>
            </a:r>
            <a:r>
              <a:rPr sz="3200" u="sng" spc="-3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in</a:t>
            </a:r>
            <a:r>
              <a:rPr sz="32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3200" u="sng" spc="-2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CSS:</a:t>
            </a:r>
            <a:endParaRPr sz="32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latin typeface="Ebrima"/>
                <a:cs typeface="Ebrima"/>
              </a:rPr>
              <a:t>a</a:t>
            </a:r>
            <a:r>
              <a:rPr sz="3200" spc="-4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valid</a:t>
            </a:r>
            <a:r>
              <a:rPr sz="3200" spc="-4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color</a:t>
            </a:r>
            <a:r>
              <a:rPr sz="3200" spc="-4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name</a:t>
            </a:r>
            <a:r>
              <a:rPr sz="3200" spc="-4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-</a:t>
            </a:r>
            <a:r>
              <a:rPr sz="3200" spc="-5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like</a:t>
            </a:r>
            <a:r>
              <a:rPr sz="3200" spc="-45" dirty="0">
                <a:latin typeface="Ebrima"/>
                <a:cs typeface="Ebrima"/>
              </a:rPr>
              <a:t> </a:t>
            </a:r>
            <a:r>
              <a:rPr sz="3200" spc="-10" dirty="0">
                <a:latin typeface="Ebrima"/>
                <a:cs typeface="Ebrima"/>
              </a:rPr>
              <a:t>"red"</a:t>
            </a:r>
            <a:endParaRPr sz="32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latin typeface="Ebrima"/>
                <a:cs typeface="Ebrima"/>
              </a:rPr>
              <a:t>an</a:t>
            </a:r>
            <a:r>
              <a:rPr sz="3200" spc="-5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RGB</a:t>
            </a:r>
            <a:r>
              <a:rPr sz="3200" spc="-6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value</a:t>
            </a:r>
            <a:r>
              <a:rPr sz="3200" spc="-3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-</a:t>
            </a:r>
            <a:r>
              <a:rPr sz="3200" spc="-6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like</a:t>
            </a:r>
            <a:r>
              <a:rPr sz="3200" spc="-6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"rgb(255,</a:t>
            </a:r>
            <a:r>
              <a:rPr sz="3200" spc="-4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0,</a:t>
            </a:r>
            <a:r>
              <a:rPr sz="3200" spc="-55" dirty="0">
                <a:latin typeface="Ebrima"/>
                <a:cs typeface="Ebrima"/>
              </a:rPr>
              <a:t> </a:t>
            </a:r>
            <a:r>
              <a:rPr sz="3200" spc="-25" dirty="0">
                <a:latin typeface="Ebrima"/>
                <a:cs typeface="Ebrima"/>
              </a:rPr>
              <a:t>0)"</a:t>
            </a:r>
            <a:endParaRPr sz="32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latin typeface="Ebrima"/>
                <a:cs typeface="Ebrima"/>
              </a:rPr>
              <a:t>a</a:t>
            </a:r>
            <a:r>
              <a:rPr sz="3200" spc="-3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HEX</a:t>
            </a:r>
            <a:r>
              <a:rPr sz="3200" spc="-3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value</a:t>
            </a:r>
            <a:r>
              <a:rPr sz="3200" spc="-30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-</a:t>
            </a:r>
            <a:r>
              <a:rPr sz="3200" spc="-3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like</a:t>
            </a:r>
            <a:r>
              <a:rPr sz="3200" spc="-35" dirty="0">
                <a:latin typeface="Ebrima"/>
                <a:cs typeface="Ebrima"/>
              </a:rPr>
              <a:t> </a:t>
            </a:r>
            <a:r>
              <a:rPr sz="3200" spc="-10" dirty="0">
                <a:latin typeface="Ebrima"/>
                <a:cs typeface="Ebrima"/>
              </a:rPr>
              <a:t>"#ff0000"</a:t>
            </a:r>
            <a:endParaRPr sz="32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NHRDF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338</Words>
  <Application>Microsoft Office PowerPoint</Application>
  <PresentationFormat>On-screen Show (16:9)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Ebrima</vt:lpstr>
      <vt:lpstr>Times New Roman</vt:lpstr>
      <vt:lpstr>Office Theme</vt:lpstr>
      <vt:lpstr>Welcome to</vt:lpstr>
      <vt:lpstr>I’AM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PowerPoint Presentation</vt:lpstr>
      <vt:lpstr>CSS (Cascading Style Sheets)</vt:lpstr>
      <vt:lpstr>CSS (Cascading Style Sheets)</vt:lpstr>
      <vt:lpstr>CSS (Cascading Style Sheets)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24</cp:revision>
  <dcterms:created xsi:type="dcterms:W3CDTF">2025-09-30T15:35:31Z</dcterms:created>
  <dcterms:modified xsi:type="dcterms:W3CDTF">2026-02-18T11:04:36Z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