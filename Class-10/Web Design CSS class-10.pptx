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57" r:id="rId3"/>
    <p:sldId id="358" r:id="rId4"/>
    <p:sldId id="359" r:id="rId5"/>
    <p:sldId id="360" r:id="rId6"/>
    <p:sldId id="361" r:id="rId7"/>
    <p:sldId id="362" r:id="rId8"/>
    <p:sldId id="363" r:id="rId9"/>
    <p:sldId id="364" r:id="rId10"/>
    <p:sldId id="365" r:id="rId11"/>
    <p:sldId id="366" r:id="rId12"/>
    <p:sldId id="367" r:id="rId13"/>
    <p:sldId id="368" r:id="rId14"/>
    <p:sldId id="369" r:id="rId15"/>
    <p:sldId id="370" r:id="rId16"/>
    <p:sldId id="475" r:id="rId17"/>
    <p:sldId id="477" r:id="rId18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860" y="8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46480" y="395223"/>
            <a:ext cx="7280275" cy="6821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39629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81326" y="3200145"/>
            <a:ext cx="4029075" cy="138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19-Feb-26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39629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19-Feb-26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39629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19-Feb-26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39629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19-Feb-26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19-Feb-26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1094994"/>
            <a:ext cx="9144000" cy="240029"/>
          </a:xfrm>
          <a:custGeom>
            <a:avLst/>
            <a:gdLst/>
            <a:ahLst/>
            <a:cxnLst/>
            <a:rect l="l" t="t" r="r" b="b"/>
            <a:pathLst>
              <a:path w="9144000" h="240030">
                <a:moveTo>
                  <a:pt x="9144000" y="0"/>
                </a:moveTo>
                <a:lnTo>
                  <a:pt x="0" y="0"/>
                </a:lnTo>
                <a:lnTo>
                  <a:pt x="0" y="240029"/>
                </a:lnTo>
                <a:lnTo>
                  <a:pt x="9144000" y="240029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1129283"/>
            <a:ext cx="533400" cy="171450"/>
          </a:xfrm>
          <a:custGeom>
            <a:avLst/>
            <a:gdLst/>
            <a:ahLst/>
            <a:cxnLst/>
            <a:rect l="l" t="t" r="r" b="b"/>
            <a:pathLst>
              <a:path w="533400" h="171450">
                <a:moveTo>
                  <a:pt x="533400" y="0"/>
                </a:moveTo>
                <a:lnTo>
                  <a:pt x="0" y="0"/>
                </a:lnTo>
                <a:lnTo>
                  <a:pt x="0" y="171450"/>
                </a:lnTo>
                <a:lnTo>
                  <a:pt x="533400" y="171450"/>
                </a:lnTo>
                <a:lnTo>
                  <a:pt x="533400" y="0"/>
                </a:lnTo>
                <a:close/>
              </a:path>
            </a:pathLst>
          </a:custGeom>
          <a:solidFill>
            <a:srgbClr val="DA1F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90550" y="1129283"/>
            <a:ext cx="8553450" cy="171450"/>
          </a:xfrm>
          <a:custGeom>
            <a:avLst/>
            <a:gdLst/>
            <a:ahLst/>
            <a:cxnLst/>
            <a:rect l="l" t="t" r="r" b="b"/>
            <a:pathLst>
              <a:path w="8553450" h="171450">
                <a:moveTo>
                  <a:pt x="8553450" y="0"/>
                </a:moveTo>
                <a:lnTo>
                  <a:pt x="0" y="0"/>
                </a:lnTo>
                <a:lnTo>
                  <a:pt x="0" y="171450"/>
                </a:lnTo>
                <a:lnTo>
                  <a:pt x="8553450" y="171450"/>
                </a:lnTo>
                <a:lnTo>
                  <a:pt x="855345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120142"/>
            <a:ext cx="8848090" cy="12120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39629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-38100" y="1122933"/>
            <a:ext cx="9068053" cy="37475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19-Feb-26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094994"/>
              <a:ext cx="9144000" cy="240029"/>
            </a:xfrm>
            <a:custGeom>
              <a:avLst/>
              <a:gdLst/>
              <a:ahLst/>
              <a:cxnLst/>
              <a:rect l="l" t="t" r="r" b="b"/>
              <a:pathLst>
                <a:path w="9144000" h="240030">
                  <a:moveTo>
                    <a:pt x="9144000" y="0"/>
                  </a:moveTo>
                  <a:lnTo>
                    <a:pt x="0" y="0"/>
                  </a:lnTo>
                  <a:lnTo>
                    <a:pt x="0" y="240029"/>
                  </a:lnTo>
                  <a:lnTo>
                    <a:pt x="9144000" y="24002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129283"/>
              <a:ext cx="533400" cy="171450"/>
            </a:xfrm>
            <a:custGeom>
              <a:avLst/>
              <a:gdLst/>
              <a:ahLst/>
              <a:cxnLst/>
              <a:rect l="l" t="t" r="r" b="b"/>
              <a:pathLst>
                <a:path w="533400" h="171450">
                  <a:moveTo>
                    <a:pt x="533400" y="0"/>
                  </a:moveTo>
                  <a:lnTo>
                    <a:pt x="0" y="0"/>
                  </a:lnTo>
                  <a:lnTo>
                    <a:pt x="0" y="171450"/>
                  </a:lnTo>
                  <a:lnTo>
                    <a:pt x="533400" y="17145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DA1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0550" y="1129283"/>
              <a:ext cx="8553450" cy="171450"/>
            </a:xfrm>
            <a:custGeom>
              <a:avLst/>
              <a:gdLst/>
              <a:ahLst/>
              <a:cxnLst/>
              <a:rect l="l" t="t" r="r" b="b"/>
              <a:pathLst>
                <a:path w="8553450" h="171450">
                  <a:moveTo>
                    <a:pt x="8553450" y="0"/>
                  </a:moveTo>
                  <a:lnTo>
                    <a:pt x="0" y="0"/>
                  </a:lnTo>
                  <a:lnTo>
                    <a:pt x="0" y="171450"/>
                  </a:lnTo>
                  <a:lnTo>
                    <a:pt x="8553450" y="171450"/>
                  </a:lnTo>
                  <a:lnTo>
                    <a:pt x="8553450" y="0"/>
                  </a:lnTo>
                  <a:close/>
                </a:path>
              </a:pathLst>
            </a:custGeom>
            <a:solidFill>
              <a:srgbClr val="2C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0" y="4478273"/>
            <a:ext cx="9144000" cy="665480"/>
            <a:chOff x="0" y="4478273"/>
            <a:chExt cx="9144000" cy="665480"/>
          </a:xfrm>
        </p:grpSpPr>
        <p:sp>
          <p:nvSpPr>
            <p:cNvPr id="8" name="object 8"/>
            <p:cNvSpPr/>
            <p:nvPr/>
          </p:nvSpPr>
          <p:spPr>
            <a:xfrm>
              <a:off x="0" y="4478273"/>
              <a:ext cx="9144000" cy="665480"/>
            </a:xfrm>
            <a:custGeom>
              <a:avLst/>
              <a:gdLst/>
              <a:ahLst/>
              <a:cxnLst/>
              <a:rect l="l" t="t" r="r" b="b"/>
              <a:pathLst>
                <a:path w="9144000" h="665479">
                  <a:moveTo>
                    <a:pt x="9144000" y="0"/>
                  </a:moveTo>
                  <a:lnTo>
                    <a:pt x="0" y="0"/>
                  </a:lnTo>
                  <a:lnTo>
                    <a:pt x="0" y="665226"/>
                  </a:lnTo>
                  <a:lnTo>
                    <a:pt x="9144000" y="66522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539995"/>
              <a:ext cx="2240280" cy="535305"/>
            </a:xfrm>
            <a:custGeom>
              <a:avLst/>
              <a:gdLst/>
              <a:ahLst/>
              <a:cxnLst/>
              <a:rect l="l" t="t" r="r" b="b"/>
              <a:pathLst>
                <a:path w="2240280" h="535304">
                  <a:moveTo>
                    <a:pt x="2240280" y="0"/>
                  </a:moveTo>
                  <a:lnTo>
                    <a:pt x="0" y="0"/>
                  </a:lnTo>
                  <a:lnTo>
                    <a:pt x="0" y="534923"/>
                  </a:lnTo>
                  <a:lnTo>
                    <a:pt x="2240280" y="534923"/>
                  </a:lnTo>
                  <a:lnTo>
                    <a:pt x="2240280" y="0"/>
                  </a:lnTo>
                  <a:close/>
                </a:path>
              </a:pathLst>
            </a:custGeom>
            <a:solidFill>
              <a:srgbClr val="DA1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59151" y="4533137"/>
              <a:ext cx="6784975" cy="535305"/>
            </a:xfrm>
            <a:custGeom>
              <a:avLst/>
              <a:gdLst/>
              <a:ahLst/>
              <a:cxnLst/>
              <a:rect l="l" t="t" r="r" b="b"/>
              <a:pathLst>
                <a:path w="6784975" h="535304">
                  <a:moveTo>
                    <a:pt x="6784848" y="0"/>
                  </a:moveTo>
                  <a:lnTo>
                    <a:pt x="0" y="0"/>
                  </a:lnTo>
                  <a:lnTo>
                    <a:pt x="0" y="534924"/>
                  </a:lnTo>
                  <a:lnTo>
                    <a:pt x="6784848" y="534924"/>
                  </a:lnTo>
                  <a:lnTo>
                    <a:pt x="6784848" y="0"/>
                  </a:lnTo>
                  <a:close/>
                </a:path>
              </a:pathLst>
            </a:custGeom>
            <a:solidFill>
              <a:srgbClr val="2C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038600" y="4538217"/>
            <a:ext cx="319290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spc="-55" dirty="0">
                <a:solidFill>
                  <a:srgbClr val="FFFFFF"/>
                </a:solidFill>
                <a:latin typeface="Arial MT"/>
                <a:cs typeface="Arial MT"/>
              </a:rPr>
              <a:t>Saturday</a:t>
            </a:r>
            <a:r>
              <a:rPr sz="28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28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Thursday</a:t>
            </a:r>
            <a:endParaRPr sz="280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4800" y="1518919"/>
            <a:ext cx="8458200" cy="25314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solidFill>
                  <a:srgbClr val="39629D"/>
                </a:solidFill>
                <a:latin typeface="Arial"/>
                <a:cs typeface="Arial"/>
              </a:rPr>
              <a:t>WEB </a:t>
            </a:r>
            <a:r>
              <a:rPr sz="5400" b="1" spc="-10" dirty="0">
                <a:solidFill>
                  <a:srgbClr val="39629D"/>
                </a:solidFill>
                <a:latin typeface="Arial"/>
                <a:cs typeface="Arial"/>
              </a:rPr>
              <a:t>DESIGN</a:t>
            </a:r>
            <a:r>
              <a:rPr lang="en-US" sz="5400" b="1" spc="-10" dirty="0">
                <a:solidFill>
                  <a:srgbClr val="39629D"/>
                </a:solidFill>
                <a:latin typeface="Arial"/>
                <a:cs typeface="Arial"/>
              </a:rPr>
              <a:t> 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5400" b="1" spc="-10" dirty="0">
                <a:solidFill>
                  <a:srgbClr val="39629D"/>
                </a:solidFill>
                <a:latin typeface="Arial"/>
                <a:cs typeface="Arial"/>
              </a:rPr>
              <a:t>AND 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5400" b="1" spc="-10" dirty="0">
                <a:solidFill>
                  <a:srgbClr val="39629D"/>
                </a:solidFill>
                <a:latin typeface="Arial"/>
                <a:cs typeface="Arial"/>
              </a:rPr>
              <a:t>DEVELOPMENT </a:t>
            </a:r>
            <a:endParaRPr sz="540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ctrTitle"/>
          </p:nvPr>
        </p:nvSpPr>
        <p:spPr>
          <a:xfrm>
            <a:off x="1046480" y="395223"/>
            <a:ext cx="728027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8375" algn="ctr">
              <a:lnSpc>
                <a:spcPct val="100000"/>
              </a:lnSpc>
              <a:spcBef>
                <a:spcPts val="100"/>
              </a:spcBef>
            </a:pPr>
            <a:r>
              <a:rPr sz="3600" b="0" dirty="0">
                <a:latin typeface="Arial MT"/>
                <a:cs typeface="Arial MT"/>
              </a:rPr>
              <a:t>Welcome</a:t>
            </a:r>
            <a:r>
              <a:rPr sz="3600" b="0" spc="-45" dirty="0">
                <a:latin typeface="Arial MT"/>
                <a:cs typeface="Arial MT"/>
              </a:rPr>
              <a:t> </a:t>
            </a:r>
            <a:r>
              <a:rPr sz="3600" b="0" dirty="0">
                <a:latin typeface="Arial MT"/>
                <a:cs typeface="Arial MT"/>
              </a:rPr>
              <a:t>to</a:t>
            </a:r>
            <a:endParaRPr sz="3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8739" y="1200200"/>
            <a:ext cx="5647055" cy="364617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349625">
              <a:lnSpc>
                <a:spcPct val="100000"/>
              </a:lnSpc>
              <a:spcBef>
                <a:spcPts val="840"/>
              </a:spcBef>
            </a:pPr>
            <a:r>
              <a:rPr sz="2800" b="1" u="sng" spc="-2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BACKGROUND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800" u="sng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CSS</a:t>
            </a:r>
            <a:r>
              <a:rPr sz="2800" u="sng" spc="-25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 </a:t>
            </a:r>
            <a:r>
              <a:rPr sz="2800" u="sng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background</a:t>
            </a:r>
            <a:r>
              <a:rPr sz="2800" u="sng" spc="-40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 </a:t>
            </a:r>
            <a:r>
              <a:rPr sz="2800" u="sng" spc="-10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properties:</a:t>
            </a:r>
            <a:endParaRPr sz="2800">
              <a:latin typeface="Ebrima"/>
              <a:cs typeface="Ebrima"/>
            </a:endParaRPr>
          </a:p>
          <a:p>
            <a:pPr marL="526415" indent="-513715">
              <a:lnSpc>
                <a:spcPct val="100000"/>
              </a:lnSpc>
              <a:spcBef>
                <a:spcPts val="705"/>
              </a:spcBef>
              <a:buClr>
                <a:srgbClr val="DA1F28"/>
              </a:buClr>
              <a:buSzPct val="58928"/>
              <a:buAutoNum type="arabicPeriod"/>
              <a:tabLst>
                <a:tab pos="526415" algn="l"/>
              </a:tabLst>
            </a:pPr>
            <a:r>
              <a:rPr sz="2800" spc="-10" dirty="0">
                <a:latin typeface="Ebrima"/>
                <a:cs typeface="Ebrima"/>
              </a:rPr>
              <a:t>background-color</a:t>
            </a:r>
            <a:endParaRPr sz="2800">
              <a:latin typeface="Ebrima"/>
              <a:cs typeface="Ebrima"/>
            </a:endParaRPr>
          </a:p>
          <a:p>
            <a:pPr marL="526415" indent="-513715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58928"/>
              <a:buAutoNum type="arabicPeriod"/>
              <a:tabLst>
                <a:tab pos="526415" algn="l"/>
              </a:tabLst>
            </a:pPr>
            <a:r>
              <a:rPr sz="2800" spc="-10" dirty="0">
                <a:latin typeface="Ebrima"/>
                <a:cs typeface="Ebrima"/>
              </a:rPr>
              <a:t>background-image</a:t>
            </a:r>
            <a:endParaRPr sz="2800">
              <a:latin typeface="Ebrima"/>
              <a:cs typeface="Ebrima"/>
            </a:endParaRPr>
          </a:p>
          <a:p>
            <a:pPr marL="526415" indent="-513715">
              <a:lnSpc>
                <a:spcPct val="100000"/>
              </a:lnSpc>
              <a:spcBef>
                <a:spcPts val="705"/>
              </a:spcBef>
              <a:buClr>
                <a:srgbClr val="DA1F28"/>
              </a:buClr>
              <a:buSzPct val="58928"/>
              <a:buAutoNum type="arabicPeriod"/>
              <a:tabLst>
                <a:tab pos="526415" algn="l"/>
              </a:tabLst>
            </a:pPr>
            <a:r>
              <a:rPr sz="2800" spc="-10" dirty="0">
                <a:latin typeface="Ebrima"/>
                <a:cs typeface="Ebrima"/>
              </a:rPr>
              <a:t>background-repeat</a:t>
            </a:r>
            <a:endParaRPr sz="2800">
              <a:latin typeface="Ebrima"/>
              <a:cs typeface="Ebrima"/>
            </a:endParaRPr>
          </a:p>
          <a:p>
            <a:pPr marL="526415" indent="-513715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58928"/>
              <a:buAutoNum type="arabicPeriod"/>
              <a:tabLst>
                <a:tab pos="526415" algn="l"/>
              </a:tabLst>
            </a:pPr>
            <a:r>
              <a:rPr sz="2800" spc="-10" dirty="0">
                <a:latin typeface="Ebrima"/>
                <a:cs typeface="Ebrima"/>
              </a:rPr>
              <a:t>background-attachment</a:t>
            </a:r>
            <a:endParaRPr sz="2800">
              <a:latin typeface="Ebrima"/>
              <a:cs typeface="Ebrima"/>
            </a:endParaRPr>
          </a:p>
          <a:p>
            <a:pPr marL="526415" indent="-513715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58928"/>
              <a:buAutoNum type="arabicPeriod"/>
              <a:tabLst>
                <a:tab pos="526415" algn="l"/>
              </a:tabLst>
            </a:pPr>
            <a:r>
              <a:rPr sz="2800" spc="-10" dirty="0">
                <a:latin typeface="Ebrima"/>
                <a:cs typeface="Ebrima"/>
              </a:rPr>
              <a:t>background-position</a:t>
            </a:r>
            <a:endParaRPr sz="28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8739" y="1200200"/>
            <a:ext cx="5647055" cy="261429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349625">
              <a:lnSpc>
                <a:spcPct val="100000"/>
              </a:lnSpc>
              <a:spcBef>
                <a:spcPts val="840"/>
              </a:spcBef>
            </a:pPr>
            <a:r>
              <a:rPr sz="2800" b="1" u="sng" spc="-2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BACKGROUND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800" u="sng" spc="-10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Background-</a:t>
            </a:r>
            <a:r>
              <a:rPr sz="2800" u="sng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Color:</a:t>
            </a:r>
            <a:r>
              <a:rPr sz="2800" u="sng" spc="-10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 </a:t>
            </a:r>
            <a:r>
              <a:rPr sz="2800" u="sng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3</a:t>
            </a:r>
            <a:r>
              <a:rPr sz="2800" u="sng" spc="5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 </a:t>
            </a:r>
            <a:r>
              <a:rPr sz="2800" u="sng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way</a:t>
            </a:r>
            <a:r>
              <a:rPr sz="2800" u="sng" spc="-15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 </a:t>
            </a:r>
            <a:r>
              <a:rPr sz="2800" u="sng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to</a:t>
            </a:r>
            <a:r>
              <a:rPr sz="2800" u="sng" spc="-10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 </a:t>
            </a:r>
            <a:r>
              <a:rPr sz="2800" u="sng" spc="-25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use</a:t>
            </a:r>
            <a:endParaRPr sz="2800">
              <a:latin typeface="Ebrima"/>
              <a:cs typeface="Ebrima"/>
            </a:endParaRPr>
          </a:p>
          <a:p>
            <a:pPr marL="526415" indent="-513715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58928"/>
              <a:buAutoNum type="arabicPeriod"/>
              <a:tabLst>
                <a:tab pos="526415" algn="l"/>
              </a:tabLst>
            </a:pPr>
            <a:r>
              <a:rPr sz="2800" spc="-20" dirty="0">
                <a:latin typeface="Arial MT"/>
                <a:cs typeface="Arial MT"/>
              </a:rPr>
              <a:t>Background-</a:t>
            </a:r>
            <a:r>
              <a:rPr sz="2800" dirty="0">
                <a:latin typeface="Arial MT"/>
                <a:cs typeface="Arial MT"/>
              </a:rPr>
              <a:t>color:</a:t>
            </a:r>
            <a:r>
              <a:rPr sz="2800" spc="-20" dirty="0">
                <a:latin typeface="Arial MT"/>
                <a:cs typeface="Arial MT"/>
              </a:rPr>
              <a:t> red;</a:t>
            </a:r>
            <a:endParaRPr sz="2800">
              <a:latin typeface="Arial MT"/>
              <a:cs typeface="Arial MT"/>
            </a:endParaRPr>
          </a:p>
          <a:p>
            <a:pPr marL="526415" indent="-513715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58928"/>
              <a:buAutoNum type="arabicPeriod"/>
              <a:tabLst>
                <a:tab pos="526415" algn="l"/>
              </a:tabLst>
            </a:pPr>
            <a:r>
              <a:rPr sz="2800" spc="-20" dirty="0">
                <a:latin typeface="Arial MT"/>
                <a:cs typeface="Arial MT"/>
              </a:rPr>
              <a:t>Background-</a:t>
            </a:r>
            <a:r>
              <a:rPr sz="2800" dirty="0">
                <a:latin typeface="Arial MT"/>
                <a:cs typeface="Arial MT"/>
              </a:rPr>
              <a:t>color: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rgb(255,0,0);</a:t>
            </a:r>
            <a:endParaRPr sz="2800">
              <a:latin typeface="Arial MT"/>
              <a:cs typeface="Arial MT"/>
            </a:endParaRPr>
          </a:p>
          <a:p>
            <a:pPr marL="526415" indent="-513715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58928"/>
              <a:buAutoNum type="arabicPeriod"/>
              <a:tabLst>
                <a:tab pos="526415" algn="l"/>
              </a:tabLst>
            </a:pPr>
            <a:r>
              <a:rPr sz="2800" spc="-20" dirty="0">
                <a:latin typeface="Arial MT"/>
                <a:cs typeface="Arial MT"/>
              </a:rPr>
              <a:t>Background-</a:t>
            </a:r>
            <a:r>
              <a:rPr sz="2800" dirty="0">
                <a:latin typeface="Arial MT"/>
                <a:cs typeface="Arial MT"/>
              </a:rPr>
              <a:t>color: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#c2c2c2;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8739" y="1200200"/>
            <a:ext cx="8009255" cy="209931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349625">
              <a:lnSpc>
                <a:spcPct val="100000"/>
              </a:lnSpc>
              <a:spcBef>
                <a:spcPts val="840"/>
              </a:spcBef>
            </a:pPr>
            <a:r>
              <a:rPr sz="2800" b="1" u="sng" spc="-2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BACKGROUND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800" u="sng" spc="-10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Background-Image:</a:t>
            </a:r>
            <a:endParaRPr sz="2800">
              <a:latin typeface="Ebrima"/>
              <a:cs typeface="Ebrima"/>
            </a:endParaRPr>
          </a:p>
          <a:p>
            <a:pPr marL="12700" marR="5080">
              <a:lnSpc>
                <a:spcPts val="4060"/>
              </a:lnSpc>
              <a:spcBef>
                <a:spcPts val="100"/>
              </a:spcBef>
            </a:pPr>
            <a:r>
              <a:rPr sz="2800" spc="-20" dirty="0">
                <a:latin typeface="Arial MT"/>
                <a:cs typeface="Arial MT"/>
              </a:rPr>
              <a:t>background-</a:t>
            </a:r>
            <a:r>
              <a:rPr sz="2800" dirty="0">
                <a:latin typeface="Arial MT"/>
                <a:cs typeface="Arial MT"/>
              </a:rPr>
              <a:t>image: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url(Image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name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or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image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link); </a:t>
            </a:r>
            <a:r>
              <a:rPr sz="2800" dirty="0">
                <a:latin typeface="Arial MT"/>
                <a:cs typeface="Arial MT"/>
              </a:rPr>
              <a:t>Ex: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background-</a:t>
            </a:r>
            <a:r>
              <a:rPr sz="2800" dirty="0">
                <a:latin typeface="Arial MT"/>
                <a:cs typeface="Arial MT"/>
              </a:rPr>
              <a:t>image: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url(bitm.jpg);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8739" y="1200200"/>
            <a:ext cx="6296660" cy="334264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349625">
              <a:lnSpc>
                <a:spcPct val="100000"/>
              </a:lnSpc>
              <a:spcBef>
                <a:spcPts val="840"/>
              </a:spcBef>
            </a:pPr>
            <a:r>
              <a:rPr sz="2800" b="1" u="sng" spc="-2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BACKGROUND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800" u="sng" spc="-10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Background-</a:t>
            </a:r>
            <a:r>
              <a:rPr sz="2800" u="sng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Image:</a:t>
            </a:r>
            <a:r>
              <a:rPr sz="2800" u="sng" spc="5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 </a:t>
            </a:r>
            <a:r>
              <a:rPr sz="2800" u="sng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Problem</a:t>
            </a:r>
            <a:r>
              <a:rPr sz="2800" u="sng" spc="-25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 </a:t>
            </a:r>
            <a:r>
              <a:rPr sz="2800" u="sng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&amp;</a:t>
            </a:r>
            <a:r>
              <a:rPr sz="2800" u="sng" spc="-5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 </a:t>
            </a:r>
            <a:r>
              <a:rPr sz="2800" u="sng" spc="-10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Solution</a:t>
            </a:r>
            <a:endParaRPr sz="2800">
              <a:latin typeface="Ebrima"/>
              <a:cs typeface="Ebrima"/>
            </a:endParaRPr>
          </a:p>
          <a:p>
            <a:pPr marL="12700" marR="1797685">
              <a:lnSpc>
                <a:spcPct val="124300"/>
              </a:lnSpc>
              <a:spcBef>
                <a:spcPts val="15"/>
              </a:spcBef>
            </a:pPr>
            <a:r>
              <a:rPr sz="2400" dirty="0">
                <a:latin typeface="Ebrima"/>
                <a:cs typeface="Ebrima"/>
              </a:rPr>
              <a:t>background:</a:t>
            </a:r>
            <a:r>
              <a:rPr sz="2400" spc="-110" dirty="0">
                <a:latin typeface="Ebrima"/>
                <a:cs typeface="Ebrima"/>
              </a:rPr>
              <a:t> </a:t>
            </a:r>
            <a:r>
              <a:rPr sz="2400" spc="-10" dirty="0">
                <a:latin typeface="Ebrima"/>
                <a:cs typeface="Ebrima"/>
              </a:rPr>
              <a:t>url(bitm.jpg); </a:t>
            </a:r>
            <a:r>
              <a:rPr sz="2400" spc="-20" dirty="0">
                <a:latin typeface="Ebrima"/>
                <a:cs typeface="Ebrima"/>
              </a:rPr>
              <a:t>background-</a:t>
            </a:r>
            <a:r>
              <a:rPr sz="2400" dirty="0">
                <a:latin typeface="Ebrima"/>
                <a:cs typeface="Ebrima"/>
              </a:rPr>
              <a:t>size:</a:t>
            </a:r>
            <a:r>
              <a:rPr sz="2400" spc="35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Width</a:t>
            </a:r>
            <a:r>
              <a:rPr sz="2400" spc="10" dirty="0">
                <a:latin typeface="Ebrima"/>
                <a:cs typeface="Ebrima"/>
              </a:rPr>
              <a:t> </a:t>
            </a:r>
            <a:r>
              <a:rPr sz="2400" spc="-10" dirty="0">
                <a:latin typeface="Ebrima"/>
                <a:cs typeface="Ebrima"/>
              </a:rPr>
              <a:t>Height; </a:t>
            </a:r>
            <a:r>
              <a:rPr sz="2400" dirty="0">
                <a:latin typeface="Ebrima"/>
                <a:cs typeface="Ebrima"/>
              </a:rPr>
              <a:t>ex:</a:t>
            </a:r>
            <a:r>
              <a:rPr sz="2400" spc="-5" dirty="0">
                <a:latin typeface="Ebrima"/>
                <a:cs typeface="Ebrima"/>
              </a:rPr>
              <a:t> </a:t>
            </a:r>
            <a:r>
              <a:rPr sz="2400" spc="-20" dirty="0">
                <a:latin typeface="Ebrima"/>
                <a:cs typeface="Ebrima"/>
              </a:rPr>
              <a:t>background-</a:t>
            </a:r>
            <a:r>
              <a:rPr sz="2400" dirty="0">
                <a:latin typeface="Ebrima"/>
                <a:cs typeface="Ebrima"/>
              </a:rPr>
              <a:t>size:</a:t>
            </a:r>
            <a:r>
              <a:rPr sz="2400" spc="20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100%</a:t>
            </a:r>
            <a:r>
              <a:rPr sz="2400" spc="10" dirty="0">
                <a:latin typeface="Ebrima"/>
                <a:cs typeface="Ebrima"/>
              </a:rPr>
              <a:t> </a:t>
            </a:r>
            <a:r>
              <a:rPr sz="2400" spc="-10" dirty="0">
                <a:latin typeface="Ebrima"/>
                <a:cs typeface="Ebrima"/>
              </a:rPr>
              <a:t>100%; </a:t>
            </a:r>
            <a:r>
              <a:rPr sz="2400" spc="-20" dirty="0">
                <a:latin typeface="Ebrima"/>
                <a:cs typeface="Ebrima"/>
              </a:rPr>
              <a:t>background-</a:t>
            </a:r>
            <a:r>
              <a:rPr sz="2400" dirty="0">
                <a:latin typeface="Ebrima"/>
                <a:cs typeface="Ebrima"/>
              </a:rPr>
              <a:t>position:</a:t>
            </a:r>
            <a:r>
              <a:rPr sz="2400" spc="5" dirty="0">
                <a:latin typeface="Ebrima"/>
                <a:cs typeface="Ebrima"/>
              </a:rPr>
              <a:t> </a:t>
            </a:r>
            <a:r>
              <a:rPr sz="2400" spc="-10" dirty="0">
                <a:latin typeface="Ebrima"/>
                <a:cs typeface="Ebrima"/>
              </a:rPr>
              <a:t>center; </a:t>
            </a:r>
            <a:r>
              <a:rPr sz="2400" spc="-20" dirty="0">
                <a:latin typeface="Ebrima"/>
                <a:cs typeface="Ebrima"/>
              </a:rPr>
              <a:t>background-</a:t>
            </a:r>
            <a:r>
              <a:rPr sz="2400" dirty="0">
                <a:latin typeface="Ebrima"/>
                <a:cs typeface="Ebrima"/>
              </a:rPr>
              <a:t>repeat:</a:t>
            </a:r>
            <a:r>
              <a:rPr sz="2400" spc="45" dirty="0">
                <a:latin typeface="Ebrima"/>
                <a:cs typeface="Ebrima"/>
              </a:rPr>
              <a:t> </a:t>
            </a:r>
            <a:r>
              <a:rPr sz="2400" spc="-20" dirty="0">
                <a:latin typeface="Ebrima"/>
                <a:cs typeface="Ebrima"/>
              </a:rPr>
              <a:t>no-</a:t>
            </a:r>
            <a:r>
              <a:rPr sz="2400" spc="-10" dirty="0">
                <a:latin typeface="Ebrima"/>
                <a:cs typeface="Ebrima"/>
              </a:rPr>
              <a:t>repeat;</a:t>
            </a:r>
            <a:endParaRPr sz="24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8739" y="1200200"/>
            <a:ext cx="7295515" cy="261937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349625">
              <a:lnSpc>
                <a:spcPct val="100000"/>
              </a:lnSpc>
              <a:spcBef>
                <a:spcPts val="840"/>
              </a:spcBef>
            </a:pPr>
            <a:r>
              <a:rPr sz="2800" b="1" u="sng" spc="-2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BACKGROUND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800" u="sng" spc="-10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Background-</a:t>
            </a:r>
            <a:r>
              <a:rPr sz="2800" u="sng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Image:</a:t>
            </a:r>
            <a:r>
              <a:rPr sz="2800" u="sng" spc="45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 </a:t>
            </a:r>
            <a:r>
              <a:rPr sz="2800" u="sng" spc="-10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Repeat</a:t>
            </a:r>
            <a:endParaRPr sz="2800">
              <a:latin typeface="Ebrima"/>
              <a:cs typeface="Ebrima"/>
            </a:endParaRPr>
          </a:p>
          <a:p>
            <a:pPr marL="1082040" marR="5080" indent="-29845">
              <a:lnSpc>
                <a:spcPct val="154700"/>
              </a:lnSpc>
              <a:spcBef>
                <a:spcPts val="335"/>
              </a:spcBef>
            </a:pPr>
            <a:r>
              <a:rPr sz="3200" spc="-25" dirty="0">
                <a:latin typeface="Ebrima"/>
                <a:cs typeface="Ebrima"/>
              </a:rPr>
              <a:t>background-</a:t>
            </a:r>
            <a:r>
              <a:rPr sz="3200" dirty="0">
                <a:latin typeface="Ebrima"/>
                <a:cs typeface="Ebrima"/>
              </a:rPr>
              <a:t>image:</a:t>
            </a:r>
            <a:r>
              <a:rPr sz="3200" spc="25" dirty="0">
                <a:latin typeface="Ebrima"/>
                <a:cs typeface="Ebrima"/>
              </a:rPr>
              <a:t> </a:t>
            </a:r>
            <a:r>
              <a:rPr sz="3200" spc="-10" dirty="0">
                <a:latin typeface="Ebrima"/>
                <a:cs typeface="Ebrima"/>
              </a:rPr>
              <a:t>url(“bitm.jpg"); </a:t>
            </a:r>
            <a:r>
              <a:rPr sz="3200" spc="-25" dirty="0">
                <a:latin typeface="Ebrima"/>
                <a:cs typeface="Ebrima"/>
              </a:rPr>
              <a:t>background-</a:t>
            </a:r>
            <a:r>
              <a:rPr sz="3200" dirty="0">
                <a:latin typeface="Ebrima"/>
                <a:cs typeface="Ebrima"/>
              </a:rPr>
              <a:t>repeat:</a:t>
            </a:r>
            <a:r>
              <a:rPr sz="3200" spc="25" dirty="0">
                <a:latin typeface="Ebrima"/>
                <a:cs typeface="Ebrima"/>
              </a:rPr>
              <a:t> </a:t>
            </a:r>
            <a:r>
              <a:rPr sz="3200" spc="-20" dirty="0">
                <a:latin typeface="Ebrima"/>
                <a:cs typeface="Ebrima"/>
              </a:rPr>
              <a:t>repeat-</a:t>
            </a:r>
            <a:r>
              <a:rPr sz="3200" dirty="0">
                <a:latin typeface="Ebrima"/>
                <a:cs typeface="Ebrima"/>
              </a:rPr>
              <a:t>x</a:t>
            </a:r>
            <a:r>
              <a:rPr sz="3200" spc="5" dirty="0">
                <a:latin typeface="Ebrima"/>
                <a:cs typeface="Ebrima"/>
              </a:rPr>
              <a:t> </a:t>
            </a:r>
            <a:r>
              <a:rPr sz="3200" dirty="0">
                <a:latin typeface="Ebrima"/>
                <a:cs typeface="Ebrima"/>
              </a:rPr>
              <a:t>or </a:t>
            </a:r>
            <a:r>
              <a:rPr sz="3200" spc="-25" dirty="0">
                <a:latin typeface="Ebrima"/>
                <a:cs typeface="Ebrima"/>
              </a:rPr>
              <a:t>y;</a:t>
            </a:r>
            <a:endParaRPr sz="32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2306955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15" dirty="0"/>
              <a:t> </a:t>
            </a:r>
            <a:r>
              <a:rPr sz="4000" dirty="0">
                <a:solidFill>
                  <a:srgbClr val="464646"/>
                </a:solidFill>
              </a:rPr>
              <a:t>(BOX </a:t>
            </a:r>
            <a:r>
              <a:rPr sz="4000" spc="-10" dirty="0">
                <a:solidFill>
                  <a:srgbClr val="464646"/>
                </a:solidFill>
              </a:rPr>
              <a:t>MODEL)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0" y="1286254"/>
            <a:ext cx="9144000" cy="3857625"/>
            <a:chOff x="0" y="1286254"/>
            <a:chExt cx="9144000" cy="38576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49718" y="4400549"/>
              <a:ext cx="1494281" cy="7429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286254"/>
              <a:ext cx="9144000" cy="38572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8739" y="1200200"/>
            <a:ext cx="5176520" cy="106807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840"/>
              </a:spcBef>
            </a:pPr>
            <a:r>
              <a:rPr sz="2800" b="1" u="sng" spc="-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BORDER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800" u="sng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CSS</a:t>
            </a:r>
            <a:r>
              <a:rPr sz="2800" u="sng" spc="-15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 </a:t>
            </a:r>
            <a:r>
              <a:rPr sz="2800" u="sng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Border:</a:t>
            </a:r>
            <a:r>
              <a:rPr sz="2800" u="sng" spc="-35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 </a:t>
            </a:r>
            <a:r>
              <a:rPr sz="2800" u="sng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3</a:t>
            </a:r>
            <a:r>
              <a:rPr sz="2800" u="sng" spc="-15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 </a:t>
            </a:r>
            <a:r>
              <a:rPr sz="2800" u="sng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way</a:t>
            </a:r>
            <a:r>
              <a:rPr sz="2800" u="sng" spc="-35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 </a:t>
            </a:r>
            <a:r>
              <a:rPr sz="2800" u="sng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to</a:t>
            </a:r>
            <a:r>
              <a:rPr sz="2800" u="sng" spc="-15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 </a:t>
            </a:r>
            <a:r>
              <a:rPr sz="2800" u="sng" spc="-25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use</a:t>
            </a:r>
            <a:endParaRPr sz="2800">
              <a:latin typeface="Ebrima"/>
              <a:cs typeface="Ebri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2561844"/>
            <a:ext cx="185420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-25" dirty="0">
                <a:solidFill>
                  <a:srgbClr val="DA1F28"/>
                </a:solidFill>
                <a:latin typeface="Ebrima"/>
                <a:cs typeface="Ebrima"/>
              </a:rPr>
              <a:t>1.</a:t>
            </a:r>
            <a:endParaRPr sz="1650">
              <a:latin typeface="Ebrima"/>
              <a:cs typeface="Ebri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3135629"/>
            <a:ext cx="23749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-40" dirty="0">
                <a:solidFill>
                  <a:srgbClr val="DA1F28"/>
                </a:solidFill>
                <a:latin typeface="Arial MT"/>
                <a:cs typeface="Arial MT"/>
              </a:rPr>
              <a:t>2.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739" y="3775709"/>
            <a:ext cx="23749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-40" dirty="0">
                <a:solidFill>
                  <a:srgbClr val="DA1F28"/>
                </a:solidFill>
                <a:latin typeface="Arial MT"/>
                <a:cs typeface="Arial MT"/>
              </a:rPr>
              <a:t>3.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33523" y="2231898"/>
            <a:ext cx="5826760" cy="193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24205">
              <a:lnSpc>
                <a:spcPct val="115700"/>
              </a:lnSpc>
              <a:spcBef>
                <a:spcPts val="100"/>
              </a:spcBef>
            </a:pPr>
            <a:r>
              <a:rPr sz="3600" spc="-85" dirty="0">
                <a:latin typeface="Arial MT"/>
                <a:cs typeface="Arial MT"/>
              </a:rPr>
              <a:t>border: </a:t>
            </a:r>
            <a:r>
              <a:rPr sz="3600" dirty="0">
                <a:latin typeface="Arial MT"/>
                <a:cs typeface="Arial MT"/>
              </a:rPr>
              <a:t>3px</a:t>
            </a:r>
            <a:r>
              <a:rPr sz="3600" spc="-90" dirty="0">
                <a:latin typeface="Arial MT"/>
                <a:cs typeface="Arial MT"/>
              </a:rPr>
              <a:t> </a:t>
            </a:r>
            <a:r>
              <a:rPr sz="3600" spc="-170" dirty="0">
                <a:latin typeface="Arial MT"/>
                <a:cs typeface="Arial MT"/>
              </a:rPr>
              <a:t>solid</a:t>
            </a:r>
            <a:r>
              <a:rPr sz="3600" spc="-80" dirty="0">
                <a:latin typeface="Arial MT"/>
                <a:cs typeface="Arial MT"/>
              </a:rPr>
              <a:t> </a:t>
            </a:r>
            <a:r>
              <a:rPr sz="3600" spc="-20" dirty="0">
                <a:latin typeface="Arial MT"/>
                <a:cs typeface="Arial MT"/>
              </a:rPr>
              <a:t>red; </a:t>
            </a:r>
            <a:r>
              <a:rPr sz="3600" spc="-85" dirty="0">
                <a:latin typeface="Arial MT"/>
                <a:cs typeface="Arial MT"/>
              </a:rPr>
              <a:t>border: </a:t>
            </a:r>
            <a:r>
              <a:rPr sz="3600" dirty="0">
                <a:latin typeface="Arial MT"/>
                <a:cs typeface="Arial MT"/>
              </a:rPr>
              <a:t>3px</a:t>
            </a:r>
            <a:r>
              <a:rPr sz="3600" spc="-90" dirty="0">
                <a:latin typeface="Arial MT"/>
                <a:cs typeface="Arial MT"/>
              </a:rPr>
              <a:t> </a:t>
            </a:r>
            <a:r>
              <a:rPr sz="3600" spc="-170" dirty="0">
                <a:latin typeface="Arial MT"/>
                <a:cs typeface="Arial MT"/>
              </a:rPr>
              <a:t>solid</a:t>
            </a:r>
            <a:r>
              <a:rPr sz="3600" spc="-80" dirty="0">
                <a:latin typeface="Arial MT"/>
                <a:cs typeface="Arial MT"/>
              </a:rPr>
              <a:t> </a:t>
            </a:r>
            <a:r>
              <a:rPr sz="3600" spc="-25" dirty="0">
                <a:latin typeface="Arial MT"/>
                <a:cs typeface="Arial MT"/>
              </a:rPr>
              <a:t>#e2e2e2;</a:t>
            </a:r>
            <a:endParaRPr sz="3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3600" spc="-85" dirty="0">
                <a:latin typeface="Arial MT"/>
                <a:cs typeface="Arial MT"/>
              </a:rPr>
              <a:t>border:</a:t>
            </a:r>
            <a:r>
              <a:rPr sz="3600" spc="-114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3px</a:t>
            </a:r>
            <a:r>
              <a:rPr sz="3600" spc="-70" dirty="0">
                <a:latin typeface="Arial MT"/>
                <a:cs typeface="Arial MT"/>
              </a:rPr>
              <a:t> </a:t>
            </a:r>
            <a:r>
              <a:rPr sz="3600" spc="-175" dirty="0">
                <a:latin typeface="Arial MT"/>
                <a:cs typeface="Arial MT"/>
              </a:rPr>
              <a:t>solid</a:t>
            </a:r>
            <a:r>
              <a:rPr sz="3600" spc="-75" dirty="0">
                <a:latin typeface="Arial MT"/>
                <a:cs typeface="Arial MT"/>
              </a:rPr>
              <a:t> </a:t>
            </a:r>
            <a:r>
              <a:rPr sz="3600" spc="-65" dirty="0">
                <a:latin typeface="Arial MT"/>
                <a:cs typeface="Arial MT"/>
              </a:rPr>
              <a:t>rgb(255,0,0);</a:t>
            </a:r>
            <a:endParaRPr sz="3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8739" y="1200200"/>
            <a:ext cx="8809990" cy="225234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75895" algn="ctr">
              <a:lnSpc>
                <a:spcPct val="100000"/>
              </a:lnSpc>
              <a:spcBef>
                <a:spcPts val="840"/>
              </a:spcBef>
            </a:pPr>
            <a:r>
              <a:rPr sz="2800" b="1" u="sng" spc="-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BORDER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800" u="sng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Border</a:t>
            </a:r>
            <a:r>
              <a:rPr sz="2800" u="sng" spc="-35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 </a:t>
            </a:r>
            <a:r>
              <a:rPr sz="2800" u="sng" spc="-10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Style</a:t>
            </a:r>
            <a:endParaRPr sz="2800">
              <a:latin typeface="Ebrima"/>
              <a:cs typeface="Ebrima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3600" dirty="0">
                <a:latin typeface="Ebrima"/>
                <a:cs typeface="Ebrima"/>
              </a:rPr>
              <a:t>dotted</a:t>
            </a:r>
            <a:r>
              <a:rPr sz="3600" spc="-90" dirty="0">
                <a:latin typeface="Ebrima"/>
                <a:cs typeface="Ebrima"/>
              </a:rPr>
              <a:t> </a:t>
            </a:r>
            <a:r>
              <a:rPr sz="3600" dirty="0">
                <a:latin typeface="Ebrima"/>
                <a:cs typeface="Ebrima"/>
              </a:rPr>
              <a:t>,dashed</a:t>
            </a:r>
            <a:r>
              <a:rPr sz="3600" spc="-100" dirty="0">
                <a:latin typeface="Ebrima"/>
                <a:cs typeface="Ebrima"/>
              </a:rPr>
              <a:t> </a:t>
            </a:r>
            <a:r>
              <a:rPr sz="3600" dirty="0">
                <a:latin typeface="Ebrima"/>
                <a:cs typeface="Ebrima"/>
              </a:rPr>
              <a:t>,solid</a:t>
            </a:r>
            <a:r>
              <a:rPr sz="3600" spc="-110" dirty="0">
                <a:latin typeface="Ebrima"/>
                <a:cs typeface="Ebrima"/>
              </a:rPr>
              <a:t> </a:t>
            </a:r>
            <a:r>
              <a:rPr sz="3600" dirty="0">
                <a:latin typeface="Ebrima"/>
                <a:cs typeface="Ebrima"/>
              </a:rPr>
              <a:t>,double</a:t>
            </a:r>
            <a:r>
              <a:rPr sz="3600" spc="-100" dirty="0">
                <a:latin typeface="Ebrima"/>
                <a:cs typeface="Ebrima"/>
              </a:rPr>
              <a:t> </a:t>
            </a:r>
            <a:r>
              <a:rPr sz="3600" dirty="0">
                <a:latin typeface="Ebrima"/>
                <a:cs typeface="Ebrima"/>
              </a:rPr>
              <a:t>,groove</a:t>
            </a:r>
            <a:r>
              <a:rPr sz="3600" spc="-110" dirty="0">
                <a:latin typeface="Ebrima"/>
                <a:cs typeface="Ebrima"/>
              </a:rPr>
              <a:t> </a:t>
            </a:r>
            <a:r>
              <a:rPr sz="3600" spc="-10" dirty="0">
                <a:latin typeface="Ebrima"/>
                <a:cs typeface="Ebrima"/>
              </a:rPr>
              <a:t>,ridge</a:t>
            </a:r>
            <a:endParaRPr sz="3600">
              <a:latin typeface="Ebrima"/>
              <a:cs typeface="Ebrima"/>
            </a:endParaRPr>
          </a:p>
          <a:p>
            <a:pPr marL="332740">
              <a:lnSpc>
                <a:spcPct val="100000"/>
              </a:lnSpc>
            </a:pPr>
            <a:r>
              <a:rPr sz="3600" dirty="0">
                <a:latin typeface="Ebrima"/>
                <a:cs typeface="Ebrima"/>
              </a:rPr>
              <a:t>,inset</a:t>
            </a:r>
            <a:r>
              <a:rPr sz="3600" spc="-55" dirty="0">
                <a:latin typeface="Ebrima"/>
                <a:cs typeface="Ebrima"/>
              </a:rPr>
              <a:t> </a:t>
            </a:r>
            <a:r>
              <a:rPr sz="3600" dirty="0">
                <a:latin typeface="Ebrima"/>
                <a:cs typeface="Ebrima"/>
              </a:rPr>
              <a:t>,outset</a:t>
            </a:r>
            <a:r>
              <a:rPr sz="3600" spc="-55" dirty="0">
                <a:latin typeface="Ebrima"/>
                <a:cs typeface="Ebrima"/>
              </a:rPr>
              <a:t> </a:t>
            </a:r>
            <a:r>
              <a:rPr sz="3600" dirty="0">
                <a:latin typeface="Ebrima"/>
                <a:cs typeface="Ebrima"/>
              </a:rPr>
              <a:t>,none</a:t>
            </a:r>
            <a:r>
              <a:rPr sz="3600" spc="-55" dirty="0">
                <a:latin typeface="Ebrima"/>
                <a:cs typeface="Ebrima"/>
              </a:rPr>
              <a:t> </a:t>
            </a:r>
            <a:r>
              <a:rPr sz="3600" spc="-10" dirty="0">
                <a:latin typeface="Ebrima"/>
                <a:cs typeface="Ebrima"/>
              </a:rPr>
              <a:t>,hidden</a:t>
            </a:r>
            <a:endParaRPr sz="3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8739" y="1200200"/>
            <a:ext cx="5176520" cy="297815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840"/>
              </a:spcBef>
            </a:pPr>
            <a:r>
              <a:rPr sz="2800" b="1" u="sng" spc="-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BORDER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800" u="sng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Border</a:t>
            </a:r>
            <a:r>
              <a:rPr sz="2800" u="sng" spc="-30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 </a:t>
            </a:r>
            <a:r>
              <a:rPr sz="2800" u="sng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Style</a:t>
            </a:r>
            <a:r>
              <a:rPr sz="2800" u="sng" spc="-20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 </a:t>
            </a:r>
            <a:r>
              <a:rPr sz="2800" u="sng" spc="-25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Use</a:t>
            </a:r>
            <a:endParaRPr sz="2800">
              <a:latin typeface="Ebrima"/>
              <a:cs typeface="Ebrima"/>
            </a:endParaRPr>
          </a:p>
          <a:p>
            <a:pPr marL="513715" marR="309880" indent="69215">
              <a:lnSpc>
                <a:spcPts val="5020"/>
              </a:lnSpc>
              <a:spcBef>
                <a:spcPts val="270"/>
              </a:spcBef>
            </a:pPr>
            <a:r>
              <a:rPr sz="3600" spc="-25" dirty="0">
                <a:latin typeface="Ebrima"/>
                <a:cs typeface="Ebrima"/>
              </a:rPr>
              <a:t>border-</a:t>
            </a:r>
            <a:r>
              <a:rPr sz="3600" dirty="0">
                <a:latin typeface="Ebrima"/>
                <a:cs typeface="Ebrima"/>
              </a:rPr>
              <a:t>style:</a:t>
            </a:r>
            <a:r>
              <a:rPr sz="3600" spc="-70" dirty="0">
                <a:latin typeface="Ebrima"/>
                <a:cs typeface="Ebrima"/>
              </a:rPr>
              <a:t> </a:t>
            </a:r>
            <a:r>
              <a:rPr sz="3600" dirty="0">
                <a:latin typeface="Ebrima"/>
                <a:cs typeface="Ebrima"/>
              </a:rPr>
              <a:t>dotted</a:t>
            </a:r>
            <a:r>
              <a:rPr sz="3600" spc="-45" dirty="0">
                <a:latin typeface="Ebrima"/>
                <a:cs typeface="Ebrima"/>
              </a:rPr>
              <a:t> </a:t>
            </a:r>
            <a:r>
              <a:rPr sz="3600" spc="-50" dirty="0">
                <a:latin typeface="Ebrima"/>
                <a:cs typeface="Ebrima"/>
              </a:rPr>
              <a:t>; </a:t>
            </a:r>
            <a:r>
              <a:rPr sz="3600" spc="-25" dirty="0">
                <a:latin typeface="Ebrima"/>
                <a:cs typeface="Ebrima"/>
              </a:rPr>
              <a:t>border-</a:t>
            </a:r>
            <a:r>
              <a:rPr sz="3600" dirty="0">
                <a:latin typeface="Ebrima"/>
                <a:cs typeface="Ebrima"/>
              </a:rPr>
              <a:t>color:</a:t>
            </a:r>
            <a:r>
              <a:rPr sz="3600" spc="-25" dirty="0">
                <a:latin typeface="Ebrima"/>
                <a:cs typeface="Ebrima"/>
              </a:rPr>
              <a:t> </a:t>
            </a:r>
            <a:r>
              <a:rPr sz="3600" spc="-10" dirty="0">
                <a:latin typeface="Ebrima"/>
                <a:cs typeface="Ebrima"/>
              </a:rPr>
              <a:t>green;</a:t>
            </a:r>
            <a:endParaRPr sz="3600">
              <a:latin typeface="Ebrima"/>
              <a:cs typeface="Ebrima"/>
            </a:endParaRPr>
          </a:p>
          <a:p>
            <a:pPr marL="513715">
              <a:lnSpc>
                <a:spcPct val="100000"/>
              </a:lnSpc>
              <a:spcBef>
                <a:spcPts val="414"/>
              </a:spcBef>
            </a:pPr>
            <a:r>
              <a:rPr sz="3600" spc="-25" dirty="0">
                <a:latin typeface="Ebrima"/>
                <a:cs typeface="Ebrima"/>
              </a:rPr>
              <a:t>border-</a:t>
            </a:r>
            <a:r>
              <a:rPr sz="3600" dirty="0">
                <a:latin typeface="Ebrima"/>
                <a:cs typeface="Ebrima"/>
              </a:rPr>
              <a:t>width:</a:t>
            </a:r>
            <a:r>
              <a:rPr sz="3600" spc="-40" dirty="0">
                <a:latin typeface="Ebrima"/>
                <a:cs typeface="Ebrima"/>
              </a:rPr>
              <a:t> </a:t>
            </a:r>
            <a:r>
              <a:rPr sz="3600" spc="-20" dirty="0">
                <a:latin typeface="Ebrima"/>
                <a:cs typeface="Ebrima"/>
              </a:rPr>
              <a:t>5px;</a:t>
            </a:r>
            <a:endParaRPr sz="3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8739" y="1200200"/>
            <a:ext cx="6059805" cy="333819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822065">
              <a:lnSpc>
                <a:spcPct val="100000"/>
              </a:lnSpc>
              <a:spcBef>
                <a:spcPts val="840"/>
              </a:spcBef>
            </a:pPr>
            <a:r>
              <a:rPr sz="2800" b="1" u="sng" spc="-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BORDER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800" u="sng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Border</a:t>
            </a:r>
            <a:r>
              <a:rPr sz="2800" u="sng" spc="-30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 </a:t>
            </a:r>
            <a:r>
              <a:rPr sz="2800" u="sng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Style</a:t>
            </a:r>
            <a:r>
              <a:rPr sz="2800" u="sng" spc="-20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 </a:t>
            </a:r>
            <a:r>
              <a:rPr sz="2800" u="sng" spc="-25" dirty="0">
                <a:solidFill>
                  <a:srgbClr val="16515F"/>
                </a:solidFill>
                <a:uFill>
                  <a:solidFill>
                    <a:srgbClr val="16515F"/>
                  </a:solidFill>
                </a:uFill>
                <a:latin typeface="Ebrima"/>
                <a:cs typeface="Ebrima"/>
              </a:rPr>
              <a:t>Use</a:t>
            </a:r>
            <a:endParaRPr sz="2800">
              <a:latin typeface="Ebrima"/>
              <a:cs typeface="Ebrima"/>
            </a:endParaRPr>
          </a:p>
          <a:p>
            <a:pPr marL="835660" marR="5080" indent="-127000">
              <a:lnSpc>
                <a:spcPct val="100000"/>
              </a:lnSpc>
              <a:spcBef>
                <a:spcPts val="595"/>
              </a:spcBef>
            </a:pPr>
            <a:r>
              <a:rPr sz="3600" spc="-90" dirty="0">
                <a:latin typeface="Arial MT"/>
                <a:cs typeface="Arial MT"/>
              </a:rPr>
              <a:t>border-</a:t>
            </a:r>
            <a:r>
              <a:rPr sz="3600" spc="-75" dirty="0">
                <a:latin typeface="Arial MT"/>
                <a:cs typeface="Arial MT"/>
              </a:rPr>
              <a:t>top-</a:t>
            </a:r>
            <a:r>
              <a:rPr sz="3600" spc="-180" dirty="0">
                <a:latin typeface="Arial MT"/>
                <a:cs typeface="Arial MT"/>
              </a:rPr>
              <a:t>style:</a:t>
            </a:r>
            <a:r>
              <a:rPr sz="3600" spc="25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dotted; </a:t>
            </a:r>
            <a:r>
              <a:rPr sz="3600" spc="-90" dirty="0">
                <a:latin typeface="Arial MT"/>
                <a:cs typeface="Arial MT"/>
              </a:rPr>
              <a:t>border-right-</a:t>
            </a:r>
            <a:r>
              <a:rPr sz="3600" spc="-180" dirty="0">
                <a:latin typeface="Arial MT"/>
                <a:cs typeface="Arial MT"/>
              </a:rPr>
              <a:t>style:</a:t>
            </a:r>
            <a:r>
              <a:rPr sz="3600" spc="15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solid; </a:t>
            </a:r>
            <a:r>
              <a:rPr sz="3600" spc="-90" dirty="0">
                <a:latin typeface="Arial MT"/>
                <a:cs typeface="Arial MT"/>
              </a:rPr>
              <a:t>border-</a:t>
            </a:r>
            <a:r>
              <a:rPr sz="3600" spc="-165" dirty="0">
                <a:latin typeface="Arial MT"/>
                <a:cs typeface="Arial MT"/>
              </a:rPr>
              <a:t>bottom-</a:t>
            </a:r>
            <a:r>
              <a:rPr sz="3600" spc="-180" dirty="0">
                <a:latin typeface="Arial MT"/>
                <a:cs typeface="Arial MT"/>
              </a:rPr>
              <a:t>style:</a:t>
            </a:r>
            <a:r>
              <a:rPr sz="3600" spc="15" dirty="0">
                <a:latin typeface="Arial MT"/>
                <a:cs typeface="Arial MT"/>
              </a:rPr>
              <a:t> </a:t>
            </a:r>
            <a:r>
              <a:rPr sz="3600" spc="-60" dirty="0">
                <a:latin typeface="Arial MT"/>
                <a:cs typeface="Arial MT"/>
              </a:rPr>
              <a:t>dotted; </a:t>
            </a:r>
            <a:r>
              <a:rPr sz="3600" spc="-90" dirty="0">
                <a:latin typeface="Arial MT"/>
                <a:cs typeface="Arial MT"/>
              </a:rPr>
              <a:t>border-</a:t>
            </a:r>
            <a:r>
              <a:rPr sz="3600" spc="-20" dirty="0">
                <a:latin typeface="Arial MT"/>
                <a:cs typeface="Arial MT"/>
              </a:rPr>
              <a:t>left-</a:t>
            </a:r>
            <a:r>
              <a:rPr sz="3600" spc="-180" dirty="0">
                <a:latin typeface="Arial MT"/>
                <a:cs typeface="Arial MT"/>
              </a:rPr>
              <a:t>style:</a:t>
            </a:r>
            <a:r>
              <a:rPr sz="3600" spc="15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solid;</a:t>
            </a:r>
            <a:endParaRPr sz="3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8739" y="1203248"/>
            <a:ext cx="5166360" cy="333502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820"/>
              </a:spcBef>
            </a:pPr>
            <a:r>
              <a:rPr sz="2800" b="1" u="sng" spc="-2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MARGIN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b="1" u="sng" dirty="0">
                <a:solidFill>
                  <a:srgbClr val="21798F"/>
                </a:solidFill>
                <a:uFill>
                  <a:solidFill>
                    <a:srgbClr val="21798F"/>
                  </a:solidFill>
                </a:uFill>
                <a:latin typeface="Ebrima"/>
                <a:cs typeface="Ebrima"/>
              </a:rPr>
              <a:t>Margin</a:t>
            </a:r>
            <a:r>
              <a:rPr sz="2800" b="1" u="sng" spc="-55" dirty="0">
                <a:solidFill>
                  <a:srgbClr val="21798F"/>
                </a:solidFill>
                <a:uFill>
                  <a:solidFill>
                    <a:srgbClr val="21798F"/>
                  </a:solidFill>
                </a:uFill>
                <a:latin typeface="Ebrima"/>
                <a:cs typeface="Ebrima"/>
              </a:rPr>
              <a:t> </a:t>
            </a:r>
            <a:r>
              <a:rPr sz="2800" b="1" u="sng" dirty="0">
                <a:solidFill>
                  <a:srgbClr val="21798F"/>
                </a:solidFill>
                <a:uFill>
                  <a:solidFill>
                    <a:srgbClr val="21798F"/>
                  </a:solidFill>
                </a:uFill>
                <a:latin typeface="Ebrima"/>
                <a:cs typeface="Ebrima"/>
              </a:rPr>
              <a:t>–</a:t>
            </a:r>
            <a:r>
              <a:rPr sz="2800" b="1" u="sng" spc="-70" dirty="0">
                <a:solidFill>
                  <a:srgbClr val="21798F"/>
                </a:solidFill>
                <a:uFill>
                  <a:solidFill>
                    <a:srgbClr val="21798F"/>
                  </a:solidFill>
                </a:uFill>
                <a:latin typeface="Ebrima"/>
                <a:cs typeface="Ebrima"/>
              </a:rPr>
              <a:t> </a:t>
            </a:r>
            <a:r>
              <a:rPr sz="2800" b="1" u="sng" dirty="0">
                <a:solidFill>
                  <a:srgbClr val="21798F"/>
                </a:solidFill>
                <a:uFill>
                  <a:solidFill>
                    <a:srgbClr val="21798F"/>
                  </a:solidFill>
                </a:uFill>
                <a:latin typeface="Ebrima"/>
                <a:cs typeface="Ebrima"/>
              </a:rPr>
              <a:t>Short</a:t>
            </a:r>
            <a:r>
              <a:rPr sz="2800" b="1" u="sng" spc="-60" dirty="0">
                <a:solidFill>
                  <a:srgbClr val="21798F"/>
                </a:solidFill>
                <a:uFill>
                  <a:solidFill>
                    <a:srgbClr val="21798F"/>
                  </a:solidFill>
                </a:uFill>
                <a:latin typeface="Ebrima"/>
                <a:cs typeface="Ebrima"/>
              </a:rPr>
              <a:t> </a:t>
            </a:r>
            <a:r>
              <a:rPr sz="2800" b="1" u="sng" dirty="0">
                <a:solidFill>
                  <a:srgbClr val="21798F"/>
                </a:solidFill>
                <a:uFill>
                  <a:solidFill>
                    <a:srgbClr val="21798F"/>
                  </a:solidFill>
                </a:uFill>
                <a:latin typeface="Ebrima"/>
                <a:cs typeface="Ebrima"/>
              </a:rPr>
              <a:t>hand</a:t>
            </a:r>
            <a:r>
              <a:rPr sz="2800" b="1" u="sng" spc="-45" dirty="0">
                <a:solidFill>
                  <a:srgbClr val="21798F"/>
                </a:solidFill>
                <a:uFill>
                  <a:solidFill>
                    <a:srgbClr val="21798F"/>
                  </a:solidFill>
                </a:uFill>
                <a:latin typeface="Ebrima"/>
                <a:cs typeface="Ebrima"/>
              </a:rPr>
              <a:t> </a:t>
            </a:r>
            <a:r>
              <a:rPr sz="2800" b="1" u="sng" spc="-10" dirty="0">
                <a:solidFill>
                  <a:srgbClr val="21798F"/>
                </a:solidFill>
                <a:uFill>
                  <a:solidFill>
                    <a:srgbClr val="21798F"/>
                  </a:solidFill>
                </a:uFill>
                <a:latin typeface="Ebrima"/>
                <a:cs typeface="Ebrima"/>
              </a:rPr>
              <a:t>Property</a:t>
            </a:r>
            <a:endParaRPr sz="2800">
              <a:latin typeface="Ebrima"/>
              <a:cs typeface="Ebrima"/>
            </a:endParaRPr>
          </a:p>
          <a:p>
            <a:pPr marL="835660" marR="60325" indent="-1905">
              <a:lnSpc>
                <a:spcPct val="100000"/>
              </a:lnSpc>
              <a:spcBef>
                <a:spcPts val="615"/>
              </a:spcBef>
            </a:pPr>
            <a:r>
              <a:rPr sz="3600" spc="-165" dirty="0">
                <a:latin typeface="Arial MT"/>
                <a:cs typeface="Arial MT"/>
              </a:rPr>
              <a:t>margin-</a:t>
            </a:r>
            <a:r>
              <a:rPr sz="3600" spc="-90" dirty="0">
                <a:latin typeface="Arial MT"/>
                <a:cs typeface="Arial MT"/>
              </a:rPr>
              <a:t>top:</a:t>
            </a:r>
            <a:r>
              <a:rPr sz="3600" spc="-110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100px; </a:t>
            </a:r>
            <a:r>
              <a:rPr sz="3600" spc="-165" dirty="0">
                <a:latin typeface="Arial MT"/>
                <a:cs typeface="Arial MT"/>
              </a:rPr>
              <a:t>margin-</a:t>
            </a:r>
            <a:r>
              <a:rPr sz="3600" spc="-190" dirty="0">
                <a:latin typeface="Arial MT"/>
                <a:cs typeface="Arial MT"/>
              </a:rPr>
              <a:t>bottom:</a:t>
            </a:r>
            <a:r>
              <a:rPr sz="3600" spc="-5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100px; </a:t>
            </a:r>
            <a:r>
              <a:rPr sz="3600" spc="-165" dirty="0">
                <a:latin typeface="Arial MT"/>
                <a:cs typeface="Arial MT"/>
              </a:rPr>
              <a:t>margin-</a:t>
            </a:r>
            <a:r>
              <a:rPr sz="3600" spc="-110" dirty="0">
                <a:latin typeface="Arial MT"/>
                <a:cs typeface="Arial MT"/>
              </a:rPr>
              <a:t>right:</a:t>
            </a:r>
            <a:r>
              <a:rPr sz="3600" spc="-70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100px; </a:t>
            </a:r>
            <a:r>
              <a:rPr sz="3600" spc="-165" dirty="0">
                <a:latin typeface="Arial MT"/>
                <a:cs typeface="Arial MT"/>
              </a:rPr>
              <a:t>margin-</a:t>
            </a:r>
            <a:r>
              <a:rPr sz="3600" spc="-25" dirty="0">
                <a:latin typeface="Arial MT"/>
                <a:cs typeface="Arial MT"/>
              </a:rPr>
              <a:t>left:</a:t>
            </a:r>
            <a:r>
              <a:rPr sz="3600" spc="-170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100px;</a:t>
            </a:r>
            <a:endParaRPr sz="3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8739" y="1226058"/>
            <a:ext cx="7393305" cy="307467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3830320">
              <a:lnSpc>
                <a:spcPct val="100000"/>
              </a:lnSpc>
              <a:spcBef>
                <a:spcPts val="640"/>
              </a:spcBef>
            </a:pPr>
            <a:r>
              <a:rPr sz="2800" b="1" u="sng" spc="-2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MARGIN</a:t>
            </a:r>
            <a:endParaRPr sz="2800">
              <a:latin typeface="Times New Roman"/>
              <a:cs typeface="Times New Roman"/>
            </a:endParaRPr>
          </a:p>
          <a:p>
            <a:pPr marR="651510" algn="r">
              <a:lnSpc>
                <a:spcPct val="100000"/>
              </a:lnSpc>
              <a:spcBef>
                <a:spcPts val="690"/>
              </a:spcBef>
            </a:pPr>
            <a:r>
              <a:rPr sz="3600" b="1" u="sng" dirty="0">
                <a:solidFill>
                  <a:srgbClr val="21798F"/>
                </a:solidFill>
                <a:uFill>
                  <a:solidFill>
                    <a:srgbClr val="21798F"/>
                  </a:solidFill>
                </a:uFill>
                <a:latin typeface="Ebrima"/>
                <a:cs typeface="Ebrima"/>
              </a:rPr>
              <a:t>Margin</a:t>
            </a:r>
            <a:r>
              <a:rPr sz="3600" b="1" u="sng" spc="-75" dirty="0">
                <a:solidFill>
                  <a:srgbClr val="21798F"/>
                </a:solidFill>
                <a:uFill>
                  <a:solidFill>
                    <a:srgbClr val="21798F"/>
                  </a:solidFill>
                </a:uFill>
                <a:latin typeface="Ebrima"/>
                <a:cs typeface="Ebrima"/>
              </a:rPr>
              <a:t> </a:t>
            </a:r>
            <a:r>
              <a:rPr sz="3600" b="1" u="sng" dirty="0">
                <a:solidFill>
                  <a:srgbClr val="21798F"/>
                </a:solidFill>
                <a:uFill>
                  <a:solidFill>
                    <a:srgbClr val="21798F"/>
                  </a:solidFill>
                </a:uFill>
                <a:latin typeface="Ebrima"/>
                <a:cs typeface="Ebrima"/>
              </a:rPr>
              <a:t>–</a:t>
            </a:r>
            <a:r>
              <a:rPr sz="3600" b="1" u="sng" spc="-70" dirty="0">
                <a:solidFill>
                  <a:srgbClr val="21798F"/>
                </a:solidFill>
                <a:uFill>
                  <a:solidFill>
                    <a:srgbClr val="21798F"/>
                  </a:solidFill>
                </a:uFill>
                <a:latin typeface="Ebrima"/>
                <a:cs typeface="Ebrima"/>
              </a:rPr>
              <a:t> </a:t>
            </a:r>
            <a:r>
              <a:rPr sz="3600" b="1" u="sng" dirty="0">
                <a:solidFill>
                  <a:srgbClr val="21798F"/>
                </a:solidFill>
                <a:uFill>
                  <a:solidFill>
                    <a:srgbClr val="21798F"/>
                  </a:solidFill>
                </a:uFill>
                <a:latin typeface="Ebrima"/>
                <a:cs typeface="Ebrima"/>
              </a:rPr>
              <a:t>Property</a:t>
            </a:r>
            <a:r>
              <a:rPr sz="3600" b="1" u="sng" spc="-65" dirty="0">
                <a:solidFill>
                  <a:srgbClr val="21798F"/>
                </a:solidFill>
                <a:uFill>
                  <a:solidFill>
                    <a:srgbClr val="21798F"/>
                  </a:solidFill>
                </a:uFill>
                <a:latin typeface="Ebrima"/>
                <a:cs typeface="Ebrima"/>
              </a:rPr>
              <a:t> </a:t>
            </a:r>
            <a:r>
              <a:rPr sz="3600" b="1" u="sng" dirty="0">
                <a:solidFill>
                  <a:srgbClr val="21798F"/>
                </a:solidFill>
                <a:uFill>
                  <a:solidFill>
                    <a:srgbClr val="21798F"/>
                  </a:solidFill>
                </a:uFill>
                <a:latin typeface="Ebrima"/>
                <a:cs typeface="Ebrima"/>
              </a:rPr>
              <a:t>have</a:t>
            </a:r>
            <a:r>
              <a:rPr sz="3600" b="1" u="sng" spc="-65" dirty="0">
                <a:solidFill>
                  <a:srgbClr val="21798F"/>
                </a:solidFill>
                <a:uFill>
                  <a:solidFill>
                    <a:srgbClr val="21798F"/>
                  </a:solidFill>
                </a:uFill>
                <a:latin typeface="Ebrima"/>
                <a:cs typeface="Ebrima"/>
              </a:rPr>
              <a:t> </a:t>
            </a:r>
            <a:r>
              <a:rPr sz="3600" b="1" u="sng" dirty="0">
                <a:solidFill>
                  <a:srgbClr val="21798F"/>
                </a:solidFill>
                <a:uFill>
                  <a:solidFill>
                    <a:srgbClr val="21798F"/>
                  </a:solidFill>
                </a:uFill>
                <a:latin typeface="Ebrima"/>
                <a:cs typeface="Ebrima"/>
              </a:rPr>
              <a:t>4</a:t>
            </a:r>
            <a:r>
              <a:rPr sz="3600" b="1" u="sng" spc="-75" dirty="0">
                <a:solidFill>
                  <a:srgbClr val="21798F"/>
                </a:solidFill>
                <a:uFill>
                  <a:solidFill>
                    <a:srgbClr val="21798F"/>
                  </a:solidFill>
                </a:uFill>
                <a:latin typeface="Ebrima"/>
                <a:cs typeface="Ebrima"/>
              </a:rPr>
              <a:t> </a:t>
            </a:r>
            <a:r>
              <a:rPr sz="3600" b="1" u="sng" spc="-20" dirty="0">
                <a:solidFill>
                  <a:srgbClr val="21798F"/>
                </a:solidFill>
                <a:uFill>
                  <a:solidFill>
                    <a:srgbClr val="21798F"/>
                  </a:solidFill>
                </a:uFill>
                <a:latin typeface="Ebrima"/>
                <a:cs typeface="Ebrima"/>
              </a:rPr>
              <a:t>value</a:t>
            </a:r>
            <a:endParaRPr sz="3600">
              <a:latin typeface="Ebrima"/>
              <a:cs typeface="Ebrima"/>
            </a:endParaRPr>
          </a:p>
          <a:p>
            <a:pPr marR="748030" algn="r">
              <a:lnSpc>
                <a:spcPct val="100000"/>
              </a:lnSpc>
              <a:spcBef>
                <a:spcPts val="735"/>
              </a:spcBef>
            </a:pPr>
            <a:r>
              <a:rPr sz="3600" dirty="0">
                <a:latin typeface="Ebrima"/>
                <a:cs typeface="Ebrima"/>
              </a:rPr>
              <a:t>margin:</a:t>
            </a:r>
            <a:r>
              <a:rPr sz="3600" spc="-100" dirty="0">
                <a:latin typeface="Ebrima"/>
                <a:cs typeface="Ebrima"/>
              </a:rPr>
              <a:t> </a:t>
            </a:r>
            <a:r>
              <a:rPr sz="3600" dirty="0">
                <a:latin typeface="Ebrima"/>
                <a:cs typeface="Ebrima"/>
              </a:rPr>
              <a:t>top</a:t>
            </a:r>
            <a:r>
              <a:rPr sz="3600" spc="-100" dirty="0">
                <a:latin typeface="Ebrima"/>
                <a:cs typeface="Ebrima"/>
              </a:rPr>
              <a:t> </a:t>
            </a:r>
            <a:r>
              <a:rPr sz="3600" dirty="0">
                <a:latin typeface="Ebrima"/>
                <a:cs typeface="Ebrima"/>
              </a:rPr>
              <a:t>right</a:t>
            </a:r>
            <a:r>
              <a:rPr sz="3600" spc="-85" dirty="0">
                <a:latin typeface="Ebrima"/>
                <a:cs typeface="Ebrima"/>
              </a:rPr>
              <a:t> </a:t>
            </a:r>
            <a:r>
              <a:rPr sz="3600" dirty="0">
                <a:latin typeface="Ebrima"/>
                <a:cs typeface="Ebrima"/>
              </a:rPr>
              <a:t>bottom</a:t>
            </a:r>
            <a:r>
              <a:rPr sz="3600" spc="-90" dirty="0">
                <a:latin typeface="Ebrima"/>
                <a:cs typeface="Ebrima"/>
              </a:rPr>
              <a:t> </a:t>
            </a:r>
            <a:r>
              <a:rPr sz="3600" spc="-10" dirty="0">
                <a:latin typeface="Ebrima"/>
                <a:cs typeface="Ebrima"/>
              </a:rPr>
              <a:t>left;</a:t>
            </a:r>
            <a:endParaRPr sz="3600">
              <a:latin typeface="Ebrima"/>
              <a:cs typeface="Ebrima"/>
            </a:endParaRPr>
          </a:p>
          <a:p>
            <a:pPr marL="765175" marR="5080" indent="-56515">
              <a:lnSpc>
                <a:spcPts val="5020"/>
              </a:lnSpc>
              <a:spcBef>
                <a:spcPts val="100"/>
              </a:spcBef>
            </a:pPr>
            <a:r>
              <a:rPr sz="3600" dirty="0">
                <a:latin typeface="Ebrima"/>
                <a:cs typeface="Ebrima"/>
              </a:rPr>
              <a:t>Ex:</a:t>
            </a:r>
            <a:r>
              <a:rPr sz="3600" spc="-35" dirty="0">
                <a:latin typeface="Ebrima"/>
                <a:cs typeface="Ebrima"/>
              </a:rPr>
              <a:t> </a:t>
            </a:r>
            <a:r>
              <a:rPr sz="3600" dirty="0">
                <a:latin typeface="Ebrima"/>
                <a:cs typeface="Ebrima"/>
              </a:rPr>
              <a:t>margin:</a:t>
            </a:r>
            <a:r>
              <a:rPr sz="3600" spc="-25" dirty="0">
                <a:latin typeface="Ebrima"/>
                <a:cs typeface="Ebrima"/>
              </a:rPr>
              <a:t> </a:t>
            </a:r>
            <a:r>
              <a:rPr sz="3600" dirty="0">
                <a:latin typeface="Ebrima"/>
                <a:cs typeface="Ebrima"/>
              </a:rPr>
              <a:t>10px</a:t>
            </a:r>
            <a:r>
              <a:rPr sz="3600" spc="-40" dirty="0">
                <a:latin typeface="Ebrima"/>
                <a:cs typeface="Ebrima"/>
              </a:rPr>
              <a:t> </a:t>
            </a:r>
            <a:r>
              <a:rPr sz="3600" dirty="0">
                <a:latin typeface="Ebrima"/>
                <a:cs typeface="Ebrima"/>
              </a:rPr>
              <a:t>10px</a:t>
            </a:r>
            <a:r>
              <a:rPr sz="3600" spc="-40" dirty="0">
                <a:latin typeface="Ebrima"/>
                <a:cs typeface="Ebrima"/>
              </a:rPr>
              <a:t> </a:t>
            </a:r>
            <a:r>
              <a:rPr sz="3600" dirty="0">
                <a:latin typeface="Ebrima"/>
                <a:cs typeface="Ebrima"/>
              </a:rPr>
              <a:t>10px</a:t>
            </a:r>
            <a:r>
              <a:rPr sz="3600" spc="-30" dirty="0">
                <a:latin typeface="Ebrima"/>
                <a:cs typeface="Ebrima"/>
              </a:rPr>
              <a:t> </a:t>
            </a:r>
            <a:r>
              <a:rPr sz="3600" spc="-10" dirty="0">
                <a:latin typeface="Ebrima"/>
                <a:cs typeface="Ebrima"/>
              </a:rPr>
              <a:t>10px; </a:t>
            </a:r>
            <a:r>
              <a:rPr sz="3600" dirty="0">
                <a:latin typeface="Ebrima"/>
                <a:cs typeface="Ebrima"/>
              </a:rPr>
              <a:t>Total</a:t>
            </a:r>
            <a:r>
              <a:rPr sz="3600" spc="-60" dirty="0">
                <a:latin typeface="Ebrima"/>
                <a:cs typeface="Ebrima"/>
              </a:rPr>
              <a:t> </a:t>
            </a:r>
            <a:r>
              <a:rPr sz="3600" dirty="0">
                <a:latin typeface="Ebrima"/>
                <a:cs typeface="Ebrima"/>
              </a:rPr>
              <a:t>margin</a:t>
            </a:r>
            <a:r>
              <a:rPr sz="3600" spc="-60" dirty="0">
                <a:latin typeface="Ebrima"/>
                <a:cs typeface="Ebrima"/>
              </a:rPr>
              <a:t> </a:t>
            </a:r>
            <a:r>
              <a:rPr sz="3600" dirty="0">
                <a:latin typeface="Ebrima"/>
                <a:cs typeface="Ebrima"/>
              </a:rPr>
              <a:t>ex:</a:t>
            </a:r>
            <a:r>
              <a:rPr sz="3600" spc="-60" dirty="0">
                <a:latin typeface="Ebrima"/>
                <a:cs typeface="Ebrima"/>
              </a:rPr>
              <a:t> </a:t>
            </a:r>
            <a:r>
              <a:rPr sz="3600" spc="-10" dirty="0">
                <a:latin typeface="Ebrima"/>
                <a:cs typeface="Ebrima"/>
              </a:rPr>
              <a:t>margin:10px;</a:t>
            </a:r>
            <a:endParaRPr sz="3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8739" y="1203248"/>
            <a:ext cx="5410200" cy="333502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R="171450" algn="r">
              <a:lnSpc>
                <a:spcPct val="100000"/>
              </a:lnSpc>
              <a:spcBef>
                <a:spcPts val="820"/>
              </a:spcBef>
            </a:pPr>
            <a:r>
              <a:rPr sz="2800" b="1" u="sng" spc="-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PADDING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b="1" u="sng" dirty="0">
                <a:solidFill>
                  <a:srgbClr val="21798F"/>
                </a:solidFill>
                <a:uFill>
                  <a:solidFill>
                    <a:srgbClr val="21798F"/>
                  </a:solidFill>
                </a:uFill>
                <a:latin typeface="Ebrima"/>
                <a:cs typeface="Ebrima"/>
              </a:rPr>
              <a:t>padding</a:t>
            </a:r>
            <a:r>
              <a:rPr sz="2800" b="1" u="sng" spc="-60" dirty="0">
                <a:solidFill>
                  <a:srgbClr val="21798F"/>
                </a:solidFill>
                <a:uFill>
                  <a:solidFill>
                    <a:srgbClr val="21798F"/>
                  </a:solidFill>
                </a:uFill>
                <a:latin typeface="Ebrima"/>
                <a:cs typeface="Ebrima"/>
              </a:rPr>
              <a:t> </a:t>
            </a:r>
            <a:r>
              <a:rPr sz="2800" b="1" u="sng" dirty="0">
                <a:solidFill>
                  <a:srgbClr val="21798F"/>
                </a:solidFill>
                <a:uFill>
                  <a:solidFill>
                    <a:srgbClr val="21798F"/>
                  </a:solidFill>
                </a:uFill>
                <a:latin typeface="Ebrima"/>
                <a:cs typeface="Ebrima"/>
              </a:rPr>
              <a:t>–</a:t>
            </a:r>
            <a:r>
              <a:rPr sz="2800" b="1" u="sng" spc="-70" dirty="0">
                <a:solidFill>
                  <a:srgbClr val="21798F"/>
                </a:solidFill>
                <a:uFill>
                  <a:solidFill>
                    <a:srgbClr val="21798F"/>
                  </a:solidFill>
                </a:uFill>
                <a:latin typeface="Ebrima"/>
                <a:cs typeface="Ebrima"/>
              </a:rPr>
              <a:t> </a:t>
            </a:r>
            <a:r>
              <a:rPr sz="2800" b="1" u="sng" dirty="0">
                <a:solidFill>
                  <a:srgbClr val="21798F"/>
                </a:solidFill>
                <a:uFill>
                  <a:solidFill>
                    <a:srgbClr val="21798F"/>
                  </a:solidFill>
                </a:uFill>
                <a:latin typeface="Ebrima"/>
                <a:cs typeface="Ebrima"/>
              </a:rPr>
              <a:t>Short</a:t>
            </a:r>
            <a:r>
              <a:rPr sz="2800" b="1" u="sng" spc="-75" dirty="0">
                <a:solidFill>
                  <a:srgbClr val="21798F"/>
                </a:solidFill>
                <a:uFill>
                  <a:solidFill>
                    <a:srgbClr val="21798F"/>
                  </a:solidFill>
                </a:uFill>
                <a:latin typeface="Ebrima"/>
                <a:cs typeface="Ebrima"/>
              </a:rPr>
              <a:t> </a:t>
            </a:r>
            <a:r>
              <a:rPr sz="2800" b="1" u="sng" dirty="0">
                <a:solidFill>
                  <a:srgbClr val="21798F"/>
                </a:solidFill>
                <a:uFill>
                  <a:solidFill>
                    <a:srgbClr val="21798F"/>
                  </a:solidFill>
                </a:uFill>
                <a:latin typeface="Ebrima"/>
                <a:cs typeface="Ebrima"/>
              </a:rPr>
              <a:t>hand</a:t>
            </a:r>
            <a:r>
              <a:rPr sz="2800" b="1" u="sng" spc="-65" dirty="0">
                <a:solidFill>
                  <a:srgbClr val="21798F"/>
                </a:solidFill>
                <a:uFill>
                  <a:solidFill>
                    <a:srgbClr val="21798F"/>
                  </a:solidFill>
                </a:uFill>
                <a:latin typeface="Ebrima"/>
                <a:cs typeface="Ebrima"/>
              </a:rPr>
              <a:t> </a:t>
            </a:r>
            <a:r>
              <a:rPr sz="2800" b="1" u="sng" spc="-10" dirty="0">
                <a:solidFill>
                  <a:srgbClr val="21798F"/>
                </a:solidFill>
                <a:uFill>
                  <a:solidFill>
                    <a:srgbClr val="21798F"/>
                  </a:solidFill>
                </a:uFill>
                <a:latin typeface="Ebrima"/>
                <a:cs typeface="Ebrima"/>
              </a:rPr>
              <a:t>Property</a:t>
            </a:r>
            <a:endParaRPr sz="2800">
              <a:latin typeface="Ebrima"/>
              <a:cs typeface="Ebrima"/>
            </a:endParaRPr>
          </a:p>
          <a:p>
            <a:pPr marL="835660" marR="5080" indent="-1905">
              <a:lnSpc>
                <a:spcPct val="100000"/>
              </a:lnSpc>
              <a:spcBef>
                <a:spcPts val="615"/>
              </a:spcBef>
            </a:pPr>
            <a:r>
              <a:rPr sz="3600" spc="-75" dirty="0">
                <a:latin typeface="Arial MT"/>
                <a:cs typeface="Arial MT"/>
              </a:rPr>
              <a:t>padding-</a:t>
            </a:r>
            <a:r>
              <a:rPr sz="3600" spc="-85" dirty="0">
                <a:latin typeface="Arial MT"/>
                <a:cs typeface="Arial MT"/>
              </a:rPr>
              <a:t>top:</a:t>
            </a:r>
            <a:r>
              <a:rPr sz="3600" spc="-95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100px; </a:t>
            </a:r>
            <a:r>
              <a:rPr sz="3600" spc="-75" dirty="0">
                <a:latin typeface="Arial MT"/>
                <a:cs typeface="Arial MT"/>
              </a:rPr>
              <a:t>padding-</a:t>
            </a:r>
            <a:r>
              <a:rPr sz="3600" spc="-190" dirty="0">
                <a:latin typeface="Arial MT"/>
                <a:cs typeface="Arial MT"/>
              </a:rPr>
              <a:t>bottom:</a:t>
            </a:r>
            <a:r>
              <a:rPr sz="3600" spc="20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100px; </a:t>
            </a:r>
            <a:r>
              <a:rPr sz="3600" spc="-75" dirty="0">
                <a:latin typeface="Arial MT"/>
                <a:cs typeface="Arial MT"/>
              </a:rPr>
              <a:t>padding-</a:t>
            </a:r>
            <a:r>
              <a:rPr sz="3600" spc="-110" dirty="0">
                <a:latin typeface="Arial MT"/>
                <a:cs typeface="Arial MT"/>
              </a:rPr>
              <a:t>right:</a:t>
            </a:r>
            <a:r>
              <a:rPr sz="3600" spc="-45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100px; </a:t>
            </a:r>
            <a:r>
              <a:rPr sz="3600" spc="-75" dirty="0">
                <a:latin typeface="Arial MT"/>
                <a:cs typeface="Arial MT"/>
              </a:rPr>
              <a:t>padding-</a:t>
            </a:r>
            <a:r>
              <a:rPr sz="3600" spc="-25" dirty="0">
                <a:latin typeface="Arial MT"/>
                <a:cs typeface="Arial MT"/>
              </a:rPr>
              <a:t>left:</a:t>
            </a:r>
            <a:r>
              <a:rPr sz="3600" spc="-145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100px;</a:t>
            </a:r>
            <a:endParaRPr sz="3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8739" y="1226058"/>
            <a:ext cx="7774305" cy="307467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3752850">
              <a:lnSpc>
                <a:spcPct val="100000"/>
              </a:lnSpc>
              <a:spcBef>
                <a:spcPts val="640"/>
              </a:spcBef>
            </a:pPr>
            <a:r>
              <a:rPr sz="2800" b="1" u="sng" spc="-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PADDING</a:t>
            </a:r>
            <a:endParaRPr sz="2800">
              <a:latin typeface="Times New Roman"/>
              <a:cs typeface="Times New Roman"/>
            </a:endParaRPr>
          </a:p>
          <a:p>
            <a:pPr marR="932815" algn="r">
              <a:lnSpc>
                <a:spcPct val="100000"/>
              </a:lnSpc>
              <a:spcBef>
                <a:spcPts val="690"/>
              </a:spcBef>
            </a:pPr>
            <a:r>
              <a:rPr sz="3600" b="1" u="sng" dirty="0">
                <a:solidFill>
                  <a:srgbClr val="21798F"/>
                </a:solidFill>
                <a:uFill>
                  <a:solidFill>
                    <a:srgbClr val="21798F"/>
                  </a:solidFill>
                </a:uFill>
                <a:latin typeface="Ebrima"/>
                <a:cs typeface="Ebrima"/>
              </a:rPr>
              <a:t>Padding–</a:t>
            </a:r>
            <a:r>
              <a:rPr sz="3600" b="1" u="sng" spc="-85" dirty="0">
                <a:solidFill>
                  <a:srgbClr val="21798F"/>
                </a:solidFill>
                <a:uFill>
                  <a:solidFill>
                    <a:srgbClr val="21798F"/>
                  </a:solidFill>
                </a:uFill>
                <a:latin typeface="Ebrima"/>
                <a:cs typeface="Ebrima"/>
              </a:rPr>
              <a:t> </a:t>
            </a:r>
            <a:r>
              <a:rPr sz="3600" b="1" u="sng" dirty="0">
                <a:solidFill>
                  <a:srgbClr val="21798F"/>
                </a:solidFill>
                <a:uFill>
                  <a:solidFill>
                    <a:srgbClr val="21798F"/>
                  </a:solidFill>
                </a:uFill>
                <a:latin typeface="Ebrima"/>
                <a:cs typeface="Ebrima"/>
              </a:rPr>
              <a:t>Property</a:t>
            </a:r>
            <a:r>
              <a:rPr sz="3600" b="1" u="sng" spc="-65" dirty="0">
                <a:solidFill>
                  <a:srgbClr val="21798F"/>
                </a:solidFill>
                <a:uFill>
                  <a:solidFill>
                    <a:srgbClr val="21798F"/>
                  </a:solidFill>
                </a:uFill>
                <a:latin typeface="Ebrima"/>
                <a:cs typeface="Ebrima"/>
              </a:rPr>
              <a:t> </a:t>
            </a:r>
            <a:r>
              <a:rPr sz="3600" b="1" u="sng" dirty="0">
                <a:solidFill>
                  <a:srgbClr val="21798F"/>
                </a:solidFill>
                <a:uFill>
                  <a:solidFill>
                    <a:srgbClr val="21798F"/>
                  </a:solidFill>
                </a:uFill>
                <a:latin typeface="Ebrima"/>
                <a:cs typeface="Ebrima"/>
              </a:rPr>
              <a:t>have</a:t>
            </a:r>
            <a:r>
              <a:rPr sz="3600" b="1" u="sng" spc="-65" dirty="0">
                <a:solidFill>
                  <a:srgbClr val="21798F"/>
                </a:solidFill>
                <a:uFill>
                  <a:solidFill>
                    <a:srgbClr val="21798F"/>
                  </a:solidFill>
                </a:uFill>
                <a:latin typeface="Ebrima"/>
                <a:cs typeface="Ebrima"/>
              </a:rPr>
              <a:t> </a:t>
            </a:r>
            <a:r>
              <a:rPr sz="3600" b="1" u="sng" dirty="0">
                <a:solidFill>
                  <a:srgbClr val="21798F"/>
                </a:solidFill>
                <a:uFill>
                  <a:solidFill>
                    <a:srgbClr val="21798F"/>
                  </a:solidFill>
                </a:uFill>
                <a:latin typeface="Ebrima"/>
                <a:cs typeface="Ebrima"/>
              </a:rPr>
              <a:t>4</a:t>
            </a:r>
            <a:r>
              <a:rPr sz="3600" b="1" u="sng" spc="-75" dirty="0">
                <a:solidFill>
                  <a:srgbClr val="21798F"/>
                </a:solidFill>
                <a:uFill>
                  <a:solidFill>
                    <a:srgbClr val="21798F"/>
                  </a:solidFill>
                </a:uFill>
                <a:latin typeface="Ebrima"/>
                <a:cs typeface="Ebrima"/>
              </a:rPr>
              <a:t> </a:t>
            </a:r>
            <a:r>
              <a:rPr sz="3600" b="1" u="sng" spc="-10" dirty="0">
                <a:solidFill>
                  <a:srgbClr val="21798F"/>
                </a:solidFill>
                <a:uFill>
                  <a:solidFill>
                    <a:srgbClr val="21798F"/>
                  </a:solidFill>
                </a:uFill>
                <a:latin typeface="Ebrima"/>
                <a:cs typeface="Ebrima"/>
              </a:rPr>
              <a:t>value</a:t>
            </a:r>
            <a:endParaRPr sz="3600">
              <a:latin typeface="Ebrima"/>
              <a:cs typeface="Ebrima"/>
            </a:endParaRPr>
          </a:p>
          <a:p>
            <a:pPr marR="874394" algn="r">
              <a:lnSpc>
                <a:spcPct val="100000"/>
              </a:lnSpc>
              <a:spcBef>
                <a:spcPts val="735"/>
              </a:spcBef>
            </a:pPr>
            <a:r>
              <a:rPr sz="3600" dirty="0">
                <a:latin typeface="Ebrima"/>
                <a:cs typeface="Ebrima"/>
              </a:rPr>
              <a:t>padding:</a:t>
            </a:r>
            <a:r>
              <a:rPr sz="3600" spc="-95" dirty="0">
                <a:latin typeface="Ebrima"/>
                <a:cs typeface="Ebrima"/>
              </a:rPr>
              <a:t> </a:t>
            </a:r>
            <a:r>
              <a:rPr sz="3600" dirty="0">
                <a:latin typeface="Ebrima"/>
                <a:cs typeface="Ebrima"/>
              </a:rPr>
              <a:t>top</a:t>
            </a:r>
            <a:r>
              <a:rPr sz="3600" spc="-105" dirty="0">
                <a:latin typeface="Ebrima"/>
                <a:cs typeface="Ebrima"/>
              </a:rPr>
              <a:t> </a:t>
            </a:r>
            <a:r>
              <a:rPr sz="3600" dirty="0">
                <a:latin typeface="Ebrima"/>
                <a:cs typeface="Ebrima"/>
              </a:rPr>
              <a:t>right</a:t>
            </a:r>
            <a:r>
              <a:rPr sz="3600" spc="-100" dirty="0">
                <a:latin typeface="Ebrima"/>
                <a:cs typeface="Ebrima"/>
              </a:rPr>
              <a:t> </a:t>
            </a:r>
            <a:r>
              <a:rPr sz="3600" dirty="0">
                <a:latin typeface="Ebrima"/>
                <a:cs typeface="Ebrima"/>
              </a:rPr>
              <a:t>bottom</a:t>
            </a:r>
            <a:r>
              <a:rPr sz="3600" spc="-95" dirty="0">
                <a:latin typeface="Ebrima"/>
                <a:cs typeface="Ebrima"/>
              </a:rPr>
              <a:t> </a:t>
            </a:r>
            <a:r>
              <a:rPr sz="3600" spc="-10" dirty="0">
                <a:latin typeface="Ebrima"/>
                <a:cs typeface="Ebrima"/>
              </a:rPr>
              <a:t>left;</a:t>
            </a:r>
            <a:endParaRPr sz="3600">
              <a:latin typeface="Ebrima"/>
              <a:cs typeface="Ebrima"/>
            </a:endParaRPr>
          </a:p>
          <a:p>
            <a:pPr marL="765175" marR="5080" indent="-56515">
              <a:lnSpc>
                <a:spcPts val="5020"/>
              </a:lnSpc>
              <a:spcBef>
                <a:spcPts val="100"/>
              </a:spcBef>
            </a:pPr>
            <a:r>
              <a:rPr sz="3600" dirty="0">
                <a:latin typeface="Ebrima"/>
                <a:cs typeface="Ebrima"/>
              </a:rPr>
              <a:t>Ex:</a:t>
            </a:r>
            <a:r>
              <a:rPr sz="3600" spc="-35" dirty="0">
                <a:latin typeface="Ebrima"/>
                <a:cs typeface="Ebrima"/>
              </a:rPr>
              <a:t> </a:t>
            </a:r>
            <a:r>
              <a:rPr sz="3600" dirty="0">
                <a:latin typeface="Ebrima"/>
                <a:cs typeface="Ebrima"/>
              </a:rPr>
              <a:t>padding</a:t>
            </a:r>
            <a:r>
              <a:rPr sz="3600" spc="-5" dirty="0">
                <a:latin typeface="Ebrima"/>
                <a:cs typeface="Ebrima"/>
              </a:rPr>
              <a:t> </a:t>
            </a:r>
            <a:r>
              <a:rPr sz="3600" dirty="0">
                <a:latin typeface="Ebrima"/>
                <a:cs typeface="Ebrima"/>
              </a:rPr>
              <a:t>:</a:t>
            </a:r>
            <a:r>
              <a:rPr sz="3600" spc="-30" dirty="0">
                <a:latin typeface="Ebrima"/>
                <a:cs typeface="Ebrima"/>
              </a:rPr>
              <a:t> </a:t>
            </a:r>
            <a:r>
              <a:rPr sz="3600" dirty="0">
                <a:latin typeface="Ebrima"/>
                <a:cs typeface="Ebrima"/>
              </a:rPr>
              <a:t>10px</a:t>
            </a:r>
            <a:r>
              <a:rPr sz="3600" spc="-30" dirty="0">
                <a:latin typeface="Ebrima"/>
                <a:cs typeface="Ebrima"/>
              </a:rPr>
              <a:t> </a:t>
            </a:r>
            <a:r>
              <a:rPr sz="3600" dirty="0">
                <a:latin typeface="Ebrima"/>
                <a:cs typeface="Ebrima"/>
              </a:rPr>
              <a:t>10px</a:t>
            </a:r>
            <a:r>
              <a:rPr sz="3600" spc="-45" dirty="0">
                <a:latin typeface="Ebrima"/>
                <a:cs typeface="Ebrima"/>
              </a:rPr>
              <a:t> </a:t>
            </a:r>
            <a:r>
              <a:rPr sz="3600" dirty="0">
                <a:latin typeface="Ebrima"/>
                <a:cs typeface="Ebrima"/>
              </a:rPr>
              <a:t>10px</a:t>
            </a:r>
            <a:r>
              <a:rPr sz="3600" spc="-40" dirty="0">
                <a:latin typeface="Ebrima"/>
                <a:cs typeface="Ebrima"/>
              </a:rPr>
              <a:t> </a:t>
            </a:r>
            <a:r>
              <a:rPr sz="3600" spc="-10" dirty="0">
                <a:latin typeface="Ebrima"/>
                <a:cs typeface="Ebrima"/>
              </a:rPr>
              <a:t>10px; </a:t>
            </a:r>
            <a:r>
              <a:rPr sz="3600" dirty="0">
                <a:latin typeface="Ebrima"/>
                <a:cs typeface="Ebrima"/>
              </a:rPr>
              <a:t>Total</a:t>
            </a:r>
            <a:r>
              <a:rPr sz="3600" spc="-80" dirty="0">
                <a:latin typeface="Ebrima"/>
                <a:cs typeface="Ebrima"/>
              </a:rPr>
              <a:t> </a:t>
            </a:r>
            <a:r>
              <a:rPr sz="3600" dirty="0">
                <a:latin typeface="Ebrima"/>
                <a:cs typeface="Ebrima"/>
              </a:rPr>
              <a:t>padding</a:t>
            </a:r>
            <a:r>
              <a:rPr sz="3600" spc="-60" dirty="0">
                <a:latin typeface="Ebrima"/>
                <a:cs typeface="Ebrima"/>
              </a:rPr>
              <a:t> </a:t>
            </a:r>
            <a:r>
              <a:rPr sz="3600" dirty="0">
                <a:latin typeface="Ebrima"/>
                <a:cs typeface="Ebrima"/>
              </a:rPr>
              <a:t>ex:</a:t>
            </a:r>
            <a:r>
              <a:rPr sz="3600" spc="-80" dirty="0">
                <a:latin typeface="Ebrima"/>
                <a:cs typeface="Ebrima"/>
              </a:rPr>
              <a:t> </a:t>
            </a:r>
            <a:r>
              <a:rPr sz="3600" spc="-10" dirty="0">
                <a:latin typeface="Ebrima"/>
                <a:cs typeface="Ebrima"/>
              </a:rPr>
              <a:t>padding:10px;</a:t>
            </a:r>
            <a:endParaRPr sz="3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1876" rIns="0" bIns="0" rtlCol="0">
            <a:spAutoFit/>
          </a:bodyPr>
          <a:lstStyle/>
          <a:p>
            <a:pPr marL="1638300">
              <a:lnSpc>
                <a:spcPct val="100000"/>
              </a:lnSpc>
              <a:spcBef>
                <a:spcPts val="100"/>
              </a:spcBef>
            </a:pPr>
            <a:r>
              <a:rPr spc="-400" dirty="0"/>
              <a:t>Practice!</a:t>
            </a:r>
            <a:r>
              <a:rPr spc="-35" dirty="0"/>
              <a:t> </a:t>
            </a:r>
            <a:r>
              <a:rPr spc="-400" dirty="0"/>
              <a:t>Practice!</a:t>
            </a:r>
            <a:r>
              <a:rPr spc="-35" dirty="0"/>
              <a:t> </a:t>
            </a:r>
            <a:r>
              <a:rPr spc="-430" dirty="0"/>
              <a:t>Practice!!!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4200" y="1504950"/>
            <a:ext cx="3246120" cy="333222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819150"/>
            <a:ext cx="8153400" cy="432435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905000" y="4938316"/>
            <a:ext cx="4761865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575"/>
              </a:lnSpc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M</a:t>
            </a:r>
            <a:r>
              <a:rPr lang="en-US" sz="1400" dirty="0">
                <a:solidFill>
                  <a:srgbClr val="464646"/>
                </a:solidFill>
                <a:latin typeface="Arial MT"/>
                <a:cs typeface="Arial MT"/>
              </a:rPr>
              <a:t>ehedi Alam</a:t>
            </a:r>
            <a:r>
              <a:rPr sz="14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lang="en-US" sz="1400" dirty="0">
                <a:solidFill>
                  <a:srgbClr val="464646"/>
                </a:solidFill>
                <a:latin typeface="Arial MT"/>
                <a:cs typeface="Arial MT"/>
              </a:rPr>
              <a:t>–</a:t>
            </a:r>
            <a:r>
              <a:rPr sz="1400" spc="-3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lang="en-US" sz="1400" spc="-90" dirty="0">
                <a:solidFill>
                  <a:srgbClr val="0000FF"/>
                </a:solidFill>
                <a:latin typeface="Arial MT"/>
                <a:cs typeface="Arial MT"/>
              </a:rPr>
              <a:t>mehedialam806@gmail.com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lang="en-US" sz="1400" dirty="0">
                <a:solidFill>
                  <a:srgbClr val="464646"/>
                </a:solidFill>
                <a:latin typeface="Arial MT"/>
                <a:cs typeface="Arial MT"/>
              </a:rPr>
              <a:t>- NHRDF</a:t>
            </a:r>
            <a:endParaRPr sz="1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46</TotalTime>
  <Words>416</Words>
  <Application>Microsoft Office PowerPoint</Application>
  <PresentationFormat>On-screen Show (16:9)</PresentationFormat>
  <Paragraphs>74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Arial MT</vt:lpstr>
      <vt:lpstr>Ebrima</vt:lpstr>
      <vt:lpstr>Times New Roman</vt:lpstr>
      <vt:lpstr>Office Theme</vt:lpstr>
      <vt:lpstr>Welcome to</vt:lpstr>
      <vt:lpstr>CSS (Cascading Style Sheets)</vt:lpstr>
      <vt:lpstr>CSS (Cascading Style Sheets)</vt:lpstr>
      <vt:lpstr>CSS (Cascading Style Sheets)</vt:lpstr>
      <vt:lpstr>CSS (Cascading Style Sheets)</vt:lpstr>
      <vt:lpstr>CSS (Cascading Style Sheets)</vt:lpstr>
      <vt:lpstr>CSS (BOX MODEL)</vt:lpstr>
      <vt:lpstr>CSS (Cascading Style Sheets)</vt:lpstr>
      <vt:lpstr>CSS (Cascading Style Sheets)</vt:lpstr>
      <vt:lpstr>CSS (Cascading Style Sheets)</vt:lpstr>
      <vt:lpstr>CSS (Cascading Style Sheets)</vt:lpstr>
      <vt:lpstr>CSS (Cascading Style Sheets)</vt:lpstr>
      <vt:lpstr>CSS (Cascading Style Sheets)</vt:lpstr>
      <vt:lpstr>CSS (Cascading Style Sheets)</vt:lpstr>
      <vt:lpstr>CSS (Cascading Style Sheets)</vt:lpstr>
      <vt:lpstr>Practice! Practice! Practice!!!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</dc:title>
  <dc:creator>Web Design</dc:creator>
  <cp:lastModifiedBy>Turnago 1</cp:lastModifiedBy>
  <cp:revision>24</cp:revision>
  <dcterms:created xsi:type="dcterms:W3CDTF">2025-09-30T15:35:31Z</dcterms:created>
  <dcterms:modified xsi:type="dcterms:W3CDTF">2026-02-19T10:10:07Z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2022-10-17T00:00:00Z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2025-09-30T00:00:00Z</vt:filetime>
  </property>
  <property fmtid="{D5CDD505-2E9C-101B-9397-08002B2CF9AE}" pid="5" name="Producer">
    <vt:lpwstr>Microsoft® PowerPoint® 2013</vt:lpwstr>
  </property>
</Properties>
</file>