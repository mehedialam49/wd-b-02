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71" r:id="rId3"/>
    <p:sldId id="372" r:id="rId4"/>
    <p:sldId id="373" r:id="rId5"/>
    <p:sldId id="374" r:id="rId6"/>
    <p:sldId id="375" r:id="rId7"/>
    <p:sldId id="376" r:id="rId8"/>
    <p:sldId id="377" r:id="rId9"/>
    <p:sldId id="378" r:id="rId10"/>
    <p:sldId id="379" r:id="rId11"/>
    <p:sldId id="475" r:id="rId12"/>
    <p:sldId id="477" r:id="rId13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860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46480" y="395223"/>
            <a:ext cx="7280275" cy="6821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rgbClr val="39629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81326" y="3200145"/>
            <a:ext cx="4029075" cy="1381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24-Feb-26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39629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24-Feb-26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39629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24-Feb-26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39629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24-Feb-26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24-Feb-26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1094994"/>
            <a:ext cx="9144000" cy="240029"/>
          </a:xfrm>
          <a:custGeom>
            <a:avLst/>
            <a:gdLst/>
            <a:ahLst/>
            <a:cxnLst/>
            <a:rect l="l" t="t" r="r" b="b"/>
            <a:pathLst>
              <a:path w="9144000" h="240030">
                <a:moveTo>
                  <a:pt x="9144000" y="0"/>
                </a:moveTo>
                <a:lnTo>
                  <a:pt x="0" y="0"/>
                </a:lnTo>
                <a:lnTo>
                  <a:pt x="0" y="240029"/>
                </a:lnTo>
                <a:lnTo>
                  <a:pt x="9144000" y="240029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1129283"/>
            <a:ext cx="533400" cy="171450"/>
          </a:xfrm>
          <a:custGeom>
            <a:avLst/>
            <a:gdLst/>
            <a:ahLst/>
            <a:cxnLst/>
            <a:rect l="l" t="t" r="r" b="b"/>
            <a:pathLst>
              <a:path w="533400" h="171450">
                <a:moveTo>
                  <a:pt x="533400" y="0"/>
                </a:moveTo>
                <a:lnTo>
                  <a:pt x="0" y="0"/>
                </a:lnTo>
                <a:lnTo>
                  <a:pt x="0" y="171450"/>
                </a:lnTo>
                <a:lnTo>
                  <a:pt x="533400" y="171450"/>
                </a:lnTo>
                <a:lnTo>
                  <a:pt x="533400" y="0"/>
                </a:lnTo>
                <a:close/>
              </a:path>
            </a:pathLst>
          </a:custGeom>
          <a:solidFill>
            <a:srgbClr val="DA1F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90550" y="1129283"/>
            <a:ext cx="8553450" cy="171450"/>
          </a:xfrm>
          <a:custGeom>
            <a:avLst/>
            <a:gdLst/>
            <a:ahLst/>
            <a:cxnLst/>
            <a:rect l="l" t="t" r="r" b="b"/>
            <a:pathLst>
              <a:path w="8553450" h="171450">
                <a:moveTo>
                  <a:pt x="8553450" y="0"/>
                </a:moveTo>
                <a:lnTo>
                  <a:pt x="0" y="0"/>
                </a:lnTo>
                <a:lnTo>
                  <a:pt x="0" y="171450"/>
                </a:lnTo>
                <a:lnTo>
                  <a:pt x="8553450" y="171450"/>
                </a:lnTo>
                <a:lnTo>
                  <a:pt x="855345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-120142"/>
            <a:ext cx="8848090" cy="12120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rgbClr val="39629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-38100" y="1122933"/>
            <a:ext cx="9068053" cy="37475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24-Feb-26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src(&#8220;URL/SOURCE&#8221;)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094994"/>
              <a:ext cx="9144000" cy="240029"/>
            </a:xfrm>
            <a:custGeom>
              <a:avLst/>
              <a:gdLst/>
              <a:ahLst/>
              <a:cxnLst/>
              <a:rect l="l" t="t" r="r" b="b"/>
              <a:pathLst>
                <a:path w="9144000" h="240030">
                  <a:moveTo>
                    <a:pt x="9144000" y="0"/>
                  </a:moveTo>
                  <a:lnTo>
                    <a:pt x="0" y="0"/>
                  </a:lnTo>
                  <a:lnTo>
                    <a:pt x="0" y="240029"/>
                  </a:lnTo>
                  <a:lnTo>
                    <a:pt x="9144000" y="240029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129283"/>
              <a:ext cx="533400" cy="171450"/>
            </a:xfrm>
            <a:custGeom>
              <a:avLst/>
              <a:gdLst/>
              <a:ahLst/>
              <a:cxnLst/>
              <a:rect l="l" t="t" r="r" b="b"/>
              <a:pathLst>
                <a:path w="533400" h="171450">
                  <a:moveTo>
                    <a:pt x="533400" y="0"/>
                  </a:moveTo>
                  <a:lnTo>
                    <a:pt x="0" y="0"/>
                  </a:lnTo>
                  <a:lnTo>
                    <a:pt x="0" y="171450"/>
                  </a:lnTo>
                  <a:lnTo>
                    <a:pt x="533400" y="171450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DA1F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0550" y="1129283"/>
              <a:ext cx="8553450" cy="171450"/>
            </a:xfrm>
            <a:custGeom>
              <a:avLst/>
              <a:gdLst/>
              <a:ahLst/>
              <a:cxnLst/>
              <a:rect l="l" t="t" r="r" b="b"/>
              <a:pathLst>
                <a:path w="8553450" h="171450">
                  <a:moveTo>
                    <a:pt x="8553450" y="0"/>
                  </a:moveTo>
                  <a:lnTo>
                    <a:pt x="0" y="0"/>
                  </a:lnTo>
                  <a:lnTo>
                    <a:pt x="0" y="171450"/>
                  </a:lnTo>
                  <a:lnTo>
                    <a:pt x="8553450" y="171450"/>
                  </a:lnTo>
                  <a:lnTo>
                    <a:pt x="8553450" y="0"/>
                  </a:lnTo>
                  <a:close/>
                </a:path>
              </a:pathLst>
            </a:custGeom>
            <a:solidFill>
              <a:srgbClr val="2C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0" y="4478273"/>
            <a:ext cx="9144000" cy="665480"/>
            <a:chOff x="0" y="4478273"/>
            <a:chExt cx="9144000" cy="665480"/>
          </a:xfrm>
        </p:grpSpPr>
        <p:sp>
          <p:nvSpPr>
            <p:cNvPr id="8" name="object 8"/>
            <p:cNvSpPr/>
            <p:nvPr/>
          </p:nvSpPr>
          <p:spPr>
            <a:xfrm>
              <a:off x="0" y="4478273"/>
              <a:ext cx="9144000" cy="665480"/>
            </a:xfrm>
            <a:custGeom>
              <a:avLst/>
              <a:gdLst/>
              <a:ahLst/>
              <a:cxnLst/>
              <a:rect l="l" t="t" r="r" b="b"/>
              <a:pathLst>
                <a:path w="9144000" h="665479">
                  <a:moveTo>
                    <a:pt x="9144000" y="0"/>
                  </a:moveTo>
                  <a:lnTo>
                    <a:pt x="0" y="0"/>
                  </a:lnTo>
                  <a:lnTo>
                    <a:pt x="0" y="665226"/>
                  </a:lnTo>
                  <a:lnTo>
                    <a:pt x="9144000" y="66522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539995"/>
              <a:ext cx="2240280" cy="535305"/>
            </a:xfrm>
            <a:custGeom>
              <a:avLst/>
              <a:gdLst/>
              <a:ahLst/>
              <a:cxnLst/>
              <a:rect l="l" t="t" r="r" b="b"/>
              <a:pathLst>
                <a:path w="2240280" h="535304">
                  <a:moveTo>
                    <a:pt x="2240280" y="0"/>
                  </a:moveTo>
                  <a:lnTo>
                    <a:pt x="0" y="0"/>
                  </a:lnTo>
                  <a:lnTo>
                    <a:pt x="0" y="534923"/>
                  </a:lnTo>
                  <a:lnTo>
                    <a:pt x="2240280" y="534923"/>
                  </a:lnTo>
                  <a:lnTo>
                    <a:pt x="2240280" y="0"/>
                  </a:lnTo>
                  <a:close/>
                </a:path>
              </a:pathLst>
            </a:custGeom>
            <a:solidFill>
              <a:srgbClr val="DA1F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59151" y="4533137"/>
              <a:ext cx="6784975" cy="535305"/>
            </a:xfrm>
            <a:custGeom>
              <a:avLst/>
              <a:gdLst/>
              <a:ahLst/>
              <a:cxnLst/>
              <a:rect l="l" t="t" r="r" b="b"/>
              <a:pathLst>
                <a:path w="6784975" h="535304">
                  <a:moveTo>
                    <a:pt x="6784848" y="0"/>
                  </a:moveTo>
                  <a:lnTo>
                    <a:pt x="0" y="0"/>
                  </a:lnTo>
                  <a:lnTo>
                    <a:pt x="0" y="534924"/>
                  </a:lnTo>
                  <a:lnTo>
                    <a:pt x="6784848" y="534924"/>
                  </a:lnTo>
                  <a:lnTo>
                    <a:pt x="6784848" y="0"/>
                  </a:lnTo>
                  <a:close/>
                </a:path>
              </a:pathLst>
            </a:custGeom>
            <a:solidFill>
              <a:srgbClr val="2C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038600" y="4538217"/>
            <a:ext cx="319290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spc="-55" dirty="0">
                <a:solidFill>
                  <a:srgbClr val="FFFFFF"/>
                </a:solidFill>
                <a:latin typeface="Arial MT"/>
                <a:cs typeface="Arial MT"/>
              </a:rPr>
              <a:t>Saturday</a:t>
            </a:r>
            <a:r>
              <a:rPr sz="28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28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Thursday</a:t>
            </a:r>
            <a:endParaRPr sz="2800" dirty="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2466" y="2190750"/>
            <a:ext cx="84582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solidFill>
                  <a:srgbClr val="39629D"/>
                </a:solidFill>
                <a:latin typeface="Arial"/>
                <a:cs typeface="Arial"/>
              </a:rPr>
              <a:t>WEB </a:t>
            </a:r>
            <a:r>
              <a:rPr sz="5400" b="1" spc="-10" dirty="0">
                <a:solidFill>
                  <a:srgbClr val="39629D"/>
                </a:solidFill>
                <a:latin typeface="Arial"/>
                <a:cs typeface="Arial"/>
              </a:rPr>
              <a:t>DESIGN</a:t>
            </a:r>
            <a:r>
              <a:rPr lang="en-US" sz="5400" b="1" spc="-10" dirty="0">
                <a:solidFill>
                  <a:srgbClr val="39629D"/>
                </a:solidFill>
                <a:latin typeface="Arial"/>
                <a:cs typeface="Arial"/>
              </a:rPr>
              <a:t> 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ctrTitle"/>
          </p:nvPr>
        </p:nvSpPr>
        <p:spPr>
          <a:xfrm>
            <a:off x="1046480" y="395223"/>
            <a:ext cx="728027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8375" algn="ctr">
              <a:lnSpc>
                <a:spcPct val="100000"/>
              </a:lnSpc>
              <a:spcBef>
                <a:spcPts val="100"/>
              </a:spcBef>
            </a:pPr>
            <a:r>
              <a:rPr sz="3600" b="0" dirty="0">
                <a:latin typeface="Arial MT"/>
                <a:cs typeface="Arial MT"/>
              </a:rPr>
              <a:t>Welcome</a:t>
            </a:r>
            <a:r>
              <a:rPr sz="3600" b="0" spc="-45" dirty="0">
                <a:latin typeface="Arial MT"/>
                <a:cs typeface="Arial MT"/>
              </a:rPr>
              <a:t> </a:t>
            </a:r>
            <a:r>
              <a:rPr sz="3600" b="0" dirty="0">
                <a:latin typeface="Arial MT"/>
                <a:cs typeface="Arial MT"/>
              </a:rPr>
              <a:t>to</a:t>
            </a:r>
            <a:endParaRPr sz="36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547" rIns="0" bIns="0" rtlCol="0">
            <a:spAutoFit/>
          </a:bodyPr>
          <a:lstStyle/>
          <a:p>
            <a:pPr marL="98044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CSS</a:t>
            </a:r>
            <a:r>
              <a:rPr sz="4000" spc="-20" dirty="0"/>
              <a:t> </a:t>
            </a:r>
            <a:r>
              <a:rPr sz="4000" dirty="0">
                <a:solidFill>
                  <a:srgbClr val="464646"/>
                </a:solidFill>
              </a:rPr>
              <a:t>(Cascading</a:t>
            </a:r>
            <a:r>
              <a:rPr sz="4000" spc="-20" dirty="0">
                <a:solidFill>
                  <a:srgbClr val="464646"/>
                </a:solidFill>
              </a:rPr>
              <a:t> </a:t>
            </a:r>
            <a:r>
              <a:rPr sz="4000" dirty="0">
                <a:solidFill>
                  <a:srgbClr val="464646"/>
                </a:solidFill>
              </a:rPr>
              <a:t>Style </a:t>
            </a:r>
            <a:r>
              <a:rPr sz="4000" spc="-10" dirty="0">
                <a:solidFill>
                  <a:srgbClr val="464646"/>
                </a:solidFill>
              </a:rPr>
              <a:t>Sheets)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98779" y="1294384"/>
            <a:ext cx="8619490" cy="3315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67335" algn="ctr">
              <a:lnSpc>
                <a:spcPct val="100000"/>
              </a:lnSpc>
              <a:spcBef>
                <a:spcPts val="100"/>
              </a:spcBef>
            </a:pPr>
            <a:r>
              <a:rPr sz="2800" b="1" u="sng" spc="-11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TYPOGRAPHY</a:t>
            </a:r>
            <a:endParaRPr sz="2800" dirty="0">
              <a:latin typeface="Times New Roman"/>
              <a:cs typeface="Times New Roman"/>
            </a:endParaRPr>
          </a:p>
          <a:p>
            <a:pPr marL="12700" marR="5080">
              <a:lnSpc>
                <a:spcPct val="151600"/>
              </a:lnSpc>
              <a:spcBef>
                <a:spcPts val="715"/>
              </a:spcBef>
            </a:pPr>
            <a:r>
              <a:rPr sz="2400" spc="-10" dirty="0">
                <a:latin typeface="Arial MT"/>
                <a:cs typeface="Arial MT"/>
              </a:rPr>
              <a:t>Typography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technique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arranging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type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make </a:t>
            </a:r>
            <a:r>
              <a:rPr sz="2400" dirty="0">
                <a:latin typeface="Arial MT"/>
                <a:cs typeface="Arial MT"/>
              </a:rPr>
              <a:t>written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language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legible,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readable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appealing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when </a:t>
            </a:r>
            <a:r>
              <a:rPr sz="2400" dirty="0">
                <a:latin typeface="Arial MT"/>
                <a:cs typeface="Arial MT"/>
              </a:rPr>
              <a:t>displayed.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arrangement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type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involves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selecting </a:t>
            </a:r>
            <a:r>
              <a:rPr sz="2400" dirty="0">
                <a:latin typeface="Arial MT"/>
                <a:cs typeface="Arial MT"/>
              </a:rPr>
              <a:t>typefaces,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point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sizes,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line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lengths,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line-</a:t>
            </a:r>
            <a:r>
              <a:rPr sz="2400" dirty="0">
                <a:latin typeface="Arial MT"/>
                <a:cs typeface="Arial MT"/>
              </a:rPr>
              <a:t>spacing,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letter- </a:t>
            </a:r>
            <a:r>
              <a:rPr sz="2400" dirty="0">
                <a:latin typeface="Arial MT"/>
                <a:cs typeface="Arial MT"/>
              </a:rPr>
              <a:t>spacing,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well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adjusting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space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between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pairs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letters.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547" rIns="0" bIns="0" rtlCol="0">
            <a:spAutoFit/>
          </a:bodyPr>
          <a:lstStyle/>
          <a:p>
            <a:pPr marL="98044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CSS</a:t>
            </a:r>
            <a:r>
              <a:rPr sz="4000" spc="-20" dirty="0"/>
              <a:t> </a:t>
            </a:r>
            <a:r>
              <a:rPr sz="4000" dirty="0">
                <a:solidFill>
                  <a:srgbClr val="464646"/>
                </a:solidFill>
              </a:rPr>
              <a:t>(Cascading</a:t>
            </a:r>
            <a:r>
              <a:rPr sz="4000" spc="-20" dirty="0">
                <a:solidFill>
                  <a:srgbClr val="464646"/>
                </a:solidFill>
              </a:rPr>
              <a:t> </a:t>
            </a:r>
            <a:r>
              <a:rPr sz="4000" dirty="0">
                <a:solidFill>
                  <a:srgbClr val="464646"/>
                </a:solidFill>
              </a:rPr>
              <a:t>Style </a:t>
            </a:r>
            <a:r>
              <a:rPr sz="4000" spc="-10" dirty="0">
                <a:solidFill>
                  <a:srgbClr val="464646"/>
                </a:solidFill>
              </a:rPr>
              <a:t>Sheets)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8739" y="1202486"/>
            <a:ext cx="8756015" cy="346456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226060" algn="ctr">
              <a:lnSpc>
                <a:spcPct val="100000"/>
              </a:lnSpc>
              <a:spcBef>
                <a:spcPts val="825"/>
              </a:spcBef>
            </a:pPr>
            <a:r>
              <a:rPr sz="2800" b="1" u="sng" spc="-1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TEXT</a:t>
            </a:r>
            <a:r>
              <a:rPr sz="28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sng" spc="-2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FORMATTING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sng" spc="7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|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sng" spc="-1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TYPOGRAPHY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2800" dirty="0">
                <a:latin typeface="Ebrima"/>
                <a:cs typeface="Ebrima"/>
              </a:rPr>
              <a:t>Text </a:t>
            </a:r>
            <a:r>
              <a:rPr sz="2800" spc="-10" dirty="0">
                <a:latin typeface="Ebrima"/>
                <a:cs typeface="Ebrima"/>
              </a:rPr>
              <a:t>color-</a:t>
            </a:r>
            <a:r>
              <a:rPr sz="2800" dirty="0">
                <a:latin typeface="Ebrima"/>
                <a:cs typeface="Ebrima"/>
              </a:rPr>
              <a:t>&gt;</a:t>
            </a:r>
            <a:r>
              <a:rPr sz="2800" spc="-10" dirty="0">
                <a:latin typeface="Ebrima"/>
                <a:cs typeface="Ebrima"/>
              </a:rPr>
              <a:t> </a:t>
            </a:r>
            <a:r>
              <a:rPr sz="2800" dirty="0">
                <a:latin typeface="Ebrima"/>
                <a:cs typeface="Ebrima"/>
              </a:rPr>
              <a:t>color:</a:t>
            </a:r>
            <a:r>
              <a:rPr sz="2800" spc="-10" dirty="0">
                <a:latin typeface="Ebrima"/>
                <a:cs typeface="Ebrima"/>
              </a:rPr>
              <a:t> </a:t>
            </a:r>
            <a:r>
              <a:rPr sz="2800" b="1" spc="-10" dirty="0">
                <a:latin typeface="Ebrima"/>
                <a:cs typeface="Ebrima"/>
              </a:rPr>
              <a:t>blue</a:t>
            </a:r>
            <a:r>
              <a:rPr sz="2800" spc="-10" dirty="0">
                <a:latin typeface="Ebrima"/>
                <a:cs typeface="Ebrima"/>
              </a:rPr>
              <a:t>;</a:t>
            </a:r>
            <a:endParaRPr sz="2800" dirty="0">
              <a:latin typeface="Ebrima"/>
              <a:cs typeface="Ebrima"/>
            </a:endParaRPr>
          </a:p>
          <a:p>
            <a:pPr marL="12700" marR="5080">
              <a:lnSpc>
                <a:spcPct val="120700"/>
              </a:lnSpc>
              <a:spcBef>
                <a:spcPts val="10"/>
              </a:spcBef>
            </a:pPr>
            <a:r>
              <a:rPr sz="2800" dirty="0">
                <a:latin typeface="Ebrima"/>
                <a:cs typeface="Ebrima"/>
              </a:rPr>
              <a:t>Text</a:t>
            </a:r>
            <a:r>
              <a:rPr sz="2800" spc="-15" dirty="0">
                <a:latin typeface="Ebrima"/>
                <a:cs typeface="Ebrima"/>
              </a:rPr>
              <a:t> </a:t>
            </a:r>
            <a:r>
              <a:rPr sz="2800" spc="-10" dirty="0">
                <a:latin typeface="Ebrima"/>
                <a:cs typeface="Ebrima"/>
              </a:rPr>
              <a:t>Alignment-</a:t>
            </a:r>
            <a:r>
              <a:rPr sz="2800" dirty="0">
                <a:latin typeface="Ebrima"/>
                <a:cs typeface="Ebrima"/>
              </a:rPr>
              <a:t>&gt;</a:t>
            </a:r>
            <a:r>
              <a:rPr sz="2800" spc="-15" dirty="0">
                <a:latin typeface="Ebrima"/>
                <a:cs typeface="Ebrima"/>
              </a:rPr>
              <a:t> </a:t>
            </a:r>
            <a:r>
              <a:rPr sz="2800" spc="-10" dirty="0">
                <a:latin typeface="Ebrima"/>
                <a:cs typeface="Ebrima"/>
              </a:rPr>
              <a:t>text-</a:t>
            </a:r>
            <a:r>
              <a:rPr sz="2800" dirty="0">
                <a:latin typeface="Ebrima"/>
                <a:cs typeface="Ebrima"/>
              </a:rPr>
              <a:t>align: </a:t>
            </a:r>
            <a:r>
              <a:rPr sz="2800" b="1" dirty="0">
                <a:latin typeface="Ebrima"/>
                <a:cs typeface="Ebrima"/>
              </a:rPr>
              <a:t>center</a:t>
            </a:r>
            <a:r>
              <a:rPr sz="2800" b="1" spc="-15" dirty="0">
                <a:latin typeface="Ebrima"/>
                <a:cs typeface="Ebrima"/>
              </a:rPr>
              <a:t> </a:t>
            </a:r>
            <a:r>
              <a:rPr sz="2800" dirty="0">
                <a:latin typeface="Ebrima"/>
                <a:cs typeface="Ebrima"/>
              </a:rPr>
              <a:t>| </a:t>
            </a:r>
            <a:r>
              <a:rPr sz="2800" b="1" dirty="0">
                <a:latin typeface="Ebrima"/>
                <a:cs typeface="Ebrima"/>
              </a:rPr>
              <a:t>left</a:t>
            </a:r>
            <a:r>
              <a:rPr sz="2800" dirty="0">
                <a:latin typeface="Ebrima"/>
                <a:cs typeface="Ebrima"/>
              </a:rPr>
              <a:t>|</a:t>
            </a:r>
            <a:r>
              <a:rPr sz="2800" spc="-10" dirty="0">
                <a:latin typeface="Ebrima"/>
                <a:cs typeface="Ebrima"/>
              </a:rPr>
              <a:t> </a:t>
            </a:r>
            <a:r>
              <a:rPr sz="2800" b="1" dirty="0">
                <a:latin typeface="Ebrima"/>
                <a:cs typeface="Ebrima"/>
              </a:rPr>
              <a:t>right</a:t>
            </a:r>
            <a:r>
              <a:rPr sz="2800" b="1" spc="-15" dirty="0">
                <a:latin typeface="Ebrima"/>
                <a:cs typeface="Ebrima"/>
              </a:rPr>
              <a:t> </a:t>
            </a:r>
            <a:r>
              <a:rPr sz="2800" spc="-10" dirty="0">
                <a:latin typeface="Ebrima"/>
                <a:cs typeface="Ebrima"/>
              </a:rPr>
              <a:t>|</a:t>
            </a:r>
            <a:r>
              <a:rPr sz="2800" b="1" spc="-10" dirty="0">
                <a:latin typeface="Ebrima"/>
                <a:cs typeface="Ebrima"/>
              </a:rPr>
              <a:t>justify</a:t>
            </a:r>
            <a:r>
              <a:rPr sz="2800" spc="-10" dirty="0">
                <a:latin typeface="Ebrima"/>
                <a:cs typeface="Ebrima"/>
              </a:rPr>
              <a:t>; Text-Decoration-</a:t>
            </a:r>
            <a:r>
              <a:rPr sz="2800" dirty="0">
                <a:latin typeface="Ebrima"/>
                <a:cs typeface="Ebrima"/>
              </a:rPr>
              <a:t>&gt;</a:t>
            </a:r>
            <a:r>
              <a:rPr sz="2800" spc="-5" dirty="0">
                <a:latin typeface="Ebrima"/>
                <a:cs typeface="Ebrima"/>
              </a:rPr>
              <a:t> </a:t>
            </a:r>
            <a:r>
              <a:rPr sz="2800" spc="-10" dirty="0">
                <a:latin typeface="Ebrima"/>
                <a:cs typeface="Ebrima"/>
              </a:rPr>
              <a:t>text-</a:t>
            </a:r>
            <a:r>
              <a:rPr sz="2800" dirty="0">
                <a:latin typeface="Ebrima"/>
                <a:cs typeface="Ebrima"/>
              </a:rPr>
              <a:t>decoration:</a:t>
            </a:r>
            <a:r>
              <a:rPr sz="2800" spc="5" dirty="0">
                <a:latin typeface="Ebrima"/>
                <a:cs typeface="Ebrima"/>
              </a:rPr>
              <a:t> </a:t>
            </a:r>
            <a:r>
              <a:rPr sz="2800" b="1" dirty="0">
                <a:latin typeface="Ebrima"/>
                <a:cs typeface="Ebrima"/>
              </a:rPr>
              <a:t>none</a:t>
            </a:r>
            <a:r>
              <a:rPr sz="2800" b="1" spc="10" dirty="0">
                <a:latin typeface="Ebrima"/>
                <a:cs typeface="Ebrima"/>
              </a:rPr>
              <a:t> </a:t>
            </a:r>
            <a:r>
              <a:rPr sz="2800" dirty="0">
                <a:latin typeface="Ebrima"/>
                <a:cs typeface="Ebrima"/>
              </a:rPr>
              <a:t>|</a:t>
            </a:r>
            <a:r>
              <a:rPr sz="2800" spc="20" dirty="0">
                <a:latin typeface="Ebrima"/>
                <a:cs typeface="Ebrima"/>
              </a:rPr>
              <a:t> </a:t>
            </a:r>
            <a:r>
              <a:rPr sz="2800" b="1" spc="-10" dirty="0">
                <a:latin typeface="Ebrima"/>
                <a:cs typeface="Ebrima"/>
              </a:rPr>
              <a:t>overline</a:t>
            </a:r>
            <a:endParaRPr sz="2800" dirty="0">
              <a:latin typeface="Ebrima"/>
              <a:cs typeface="Ebrima"/>
            </a:endParaRPr>
          </a:p>
          <a:p>
            <a:pPr marL="332740">
              <a:lnSpc>
                <a:spcPct val="100000"/>
              </a:lnSpc>
            </a:pPr>
            <a:r>
              <a:rPr sz="2800" spc="-20" dirty="0">
                <a:latin typeface="Ebrima"/>
                <a:cs typeface="Ebrima"/>
              </a:rPr>
              <a:t>|</a:t>
            </a:r>
            <a:r>
              <a:rPr sz="2800" b="1" spc="-20" dirty="0">
                <a:latin typeface="Ebrima"/>
                <a:cs typeface="Ebrima"/>
              </a:rPr>
              <a:t>line-</a:t>
            </a:r>
            <a:r>
              <a:rPr sz="2800" b="1" dirty="0">
                <a:latin typeface="Ebrima"/>
                <a:cs typeface="Ebrima"/>
              </a:rPr>
              <a:t>through</a:t>
            </a:r>
            <a:r>
              <a:rPr sz="2800" b="1" spc="-50" dirty="0">
                <a:latin typeface="Ebrima"/>
                <a:cs typeface="Ebrima"/>
              </a:rPr>
              <a:t> </a:t>
            </a:r>
            <a:r>
              <a:rPr sz="2800" dirty="0">
                <a:latin typeface="Ebrima"/>
                <a:cs typeface="Ebrima"/>
              </a:rPr>
              <a:t>|</a:t>
            </a:r>
            <a:r>
              <a:rPr sz="2800" spc="-50" dirty="0">
                <a:latin typeface="Ebrima"/>
                <a:cs typeface="Ebrima"/>
              </a:rPr>
              <a:t> </a:t>
            </a:r>
            <a:r>
              <a:rPr sz="2800" b="1" spc="-10" dirty="0">
                <a:latin typeface="Ebrima"/>
                <a:cs typeface="Ebrima"/>
              </a:rPr>
              <a:t>underline;</a:t>
            </a:r>
            <a:endParaRPr sz="2800" dirty="0">
              <a:latin typeface="Ebrima"/>
              <a:cs typeface="Ebrima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800" dirty="0">
                <a:latin typeface="Ebrima"/>
                <a:cs typeface="Ebrima"/>
              </a:rPr>
              <a:t>Text</a:t>
            </a:r>
            <a:r>
              <a:rPr sz="2800" spc="10" dirty="0">
                <a:latin typeface="Ebrima"/>
                <a:cs typeface="Ebrima"/>
              </a:rPr>
              <a:t> </a:t>
            </a:r>
            <a:r>
              <a:rPr sz="2800" spc="-10" dirty="0">
                <a:latin typeface="Ebrima"/>
                <a:cs typeface="Ebrima"/>
              </a:rPr>
              <a:t>Transformation-</a:t>
            </a:r>
            <a:r>
              <a:rPr sz="2800" dirty="0">
                <a:latin typeface="Ebrima"/>
                <a:cs typeface="Ebrima"/>
              </a:rPr>
              <a:t>&gt; </a:t>
            </a:r>
            <a:r>
              <a:rPr sz="2800" spc="-10" dirty="0">
                <a:latin typeface="Ebrima"/>
                <a:cs typeface="Ebrima"/>
              </a:rPr>
              <a:t>text-</a:t>
            </a:r>
            <a:r>
              <a:rPr sz="2800" dirty="0">
                <a:latin typeface="Ebrima"/>
                <a:cs typeface="Ebrima"/>
              </a:rPr>
              <a:t>transform:</a:t>
            </a:r>
            <a:r>
              <a:rPr sz="2800" spc="25" dirty="0">
                <a:latin typeface="Ebrima"/>
                <a:cs typeface="Ebrima"/>
              </a:rPr>
              <a:t> </a:t>
            </a:r>
            <a:r>
              <a:rPr sz="2800" b="1" dirty="0">
                <a:latin typeface="Ebrima"/>
                <a:cs typeface="Ebrima"/>
              </a:rPr>
              <a:t>uppercase</a:t>
            </a:r>
            <a:r>
              <a:rPr sz="2800" b="1" spc="15" dirty="0">
                <a:latin typeface="Ebrima"/>
                <a:cs typeface="Ebrima"/>
              </a:rPr>
              <a:t> </a:t>
            </a:r>
            <a:r>
              <a:rPr sz="2800" spc="-50" dirty="0">
                <a:latin typeface="Ebrima"/>
                <a:cs typeface="Ebrima"/>
              </a:rPr>
              <a:t>|</a:t>
            </a:r>
            <a:endParaRPr sz="2800" dirty="0">
              <a:latin typeface="Ebrima"/>
              <a:cs typeface="Ebrima"/>
            </a:endParaRPr>
          </a:p>
          <a:p>
            <a:pPr marL="332740">
              <a:lnSpc>
                <a:spcPct val="100000"/>
              </a:lnSpc>
              <a:spcBef>
                <a:spcPts val="5"/>
              </a:spcBef>
            </a:pPr>
            <a:r>
              <a:rPr sz="2800" b="1" dirty="0">
                <a:latin typeface="Ebrima"/>
                <a:cs typeface="Ebrima"/>
              </a:rPr>
              <a:t>lowercase</a:t>
            </a:r>
            <a:r>
              <a:rPr sz="2800" b="1" spc="-65" dirty="0">
                <a:latin typeface="Ebrima"/>
                <a:cs typeface="Ebrima"/>
              </a:rPr>
              <a:t> </a:t>
            </a:r>
            <a:r>
              <a:rPr sz="2800" dirty="0">
                <a:latin typeface="Ebrima"/>
                <a:cs typeface="Ebrima"/>
              </a:rPr>
              <a:t>|</a:t>
            </a:r>
            <a:r>
              <a:rPr sz="2800" spc="-75" dirty="0">
                <a:latin typeface="Ebrima"/>
                <a:cs typeface="Ebrima"/>
              </a:rPr>
              <a:t> </a:t>
            </a:r>
            <a:r>
              <a:rPr sz="2800" b="1" spc="-10" dirty="0">
                <a:latin typeface="Ebrima"/>
                <a:cs typeface="Ebrima"/>
              </a:rPr>
              <a:t>capitalize;</a:t>
            </a:r>
            <a:endParaRPr sz="2800" dirty="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547" rIns="0" bIns="0" rtlCol="0">
            <a:spAutoFit/>
          </a:bodyPr>
          <a:lstStyle/>
          <a:p>
            <a:pPr marL="98044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CSS</a:t>
            </a:r>
            <a:r>
              <a:rPr sz="4000" spc="-20" dirty="0"/>
              <a:t> </a:t>
            </a:r>
            <a:r>
              <a:rPr sz="4000" dirty="0">
                <a:solidFill>
                  <a:srgbClr val="464646"/>
                </a:solidFill>
              </a:rPr>
              <a:t>(Cascading</a:t>
            </a:r>
            <a:r>
              <a:rPr sz="4000" spc="-20" dirty="0">
                <a:solidFill>
                  <a:srgbClr val="464646"/>
                </a:solidFill>
              </a:rPr>
              <a:t> </a:t>
            </a:r>
            <a:r>
              <a:rPr sz="4000" dirty="0">
                <a:solidFill>
                  <a:srgbClr val="464646"/>
                </a:solidFill>
              </a:rPr>
              <a:t>Style </a:t>
            </a:r>
            <a:r>
              <a:rPr sz="4000" spc="-10" dirty="0">
                <a:solidFill>
                  <a:srgbClr val="464646"/>
                </a:solidFill>
              </a:rPr>
              <a:t>Sheets)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8739" y="1202486"/>
            <a:ext cx="7545070" cy="312674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2928620">
              <a:lnSpc>
                <a:spcPct val="100000"/>
              </a:lnSpc>
              <a:spcBef>
                <a:spcPts val="825"/>
              </a:spcBef>
            </a:pPr>
            <a:r>
              <a:rPr sz="2800" b="1" u="sng" spc="-1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TEXT</a:t>
            </a:r>
            <a:r>
              <a:rPr sz="2800" b="1" u="sng" spc="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sng" spc="-2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FORMATTING</a:t>
            </a:r>
            <a:endParaRPr sz="2800">
              <a:latin typeface="Times New Roman"/>
              <a:cs typeface="Times New Roman"/>
            </a:endParaRPr>
          </a:p>
          <a:p>
            <a:pPr marL="12700" marR="1424940" algn="just">
              <a:lnSpc>
                <a:spcPct val="120800"/>
              </a:lnSpc>
              <a:spcBef>
                <a:spcPts val="25"/>
              </a:spcBef>
            </a:pPr>
            <a:r>
              <a:rPr sz="2800" dirty="0">
                <a:latin typeface="Ebrima"/>
                <a:cs typeface="Ebrima"/>
              </a:rPr>
              <a:t>Text</a:t>
            </a:r>
            <a:r>
              <a:rPr sz="2800" spc="-25" dirty="0">
                <a:latin typeface="Ebrima"/>
                <a:cs typeface="Ebrima"/>
              </a:rPr>
              <a:t> </a:t>
            </a:r>
            <a:r>
              <a:rPr sz="2800" spc="-10" dirty="0">
                <a:latin typeface="Ebrima"/>
                <a:cs typeface="Ebrima"/>
              </a:rPr>
              <a:t>Indentation-</a:t>
            </a:r>
            <a:r>
              <a:rPr sz="2800" dirty="0">
                <a:latin typeface="Ebrima"/>
                <a:cs typeface="Ebrima"/>
              </a:rPr>
              <a:t>&gt;</a:t>
            </a:r>
            <a:r>
              <a:rPr sz="2800" spc="-15" dirty="0">
                <a:latin typeface="Ebrima"/>
                <a:cs typeface="Ebrima"/>
              </a:rPr>
              <a:t> </a:t>
            </a:r>
            <a:r>
              <a:rPr sz="2800" b="1" spc="-10" dirty="0">
                <a:latin typeface="Ebrima"/>
                <a:cs typeface="Ebrima"/>
              </a:rPr>
              <a:t>text-</a:t>
            </a:r>
            <a:r>
              <a:rPr sz="2800" b="1" dirty="0">
                <a:latin typeface="Ebrima"/>
                <a:cs typeface="Ebrima"/>
              </a:rPr>
              <a:t>indent:</a:t>
            </a:r>
            <a:r>
              <a:rPr sz="2800" b="1" spc="-15" dirty="0">
                <a:latin typeface="Ebrima"/>
                <a:cs typeface="Ebrima"/>
              </a:rPr>
              <a:t> </a:t>
            </a:r>
            <a:r>
              <a:rPr sz="2800" b="1" spc="-10" dirty="0">
                <a:latin typeface="Ebrima"/>
                <a:cs typeface="Ebrima"/>
              </a:rPr>
              <a:t>50px; </a:t>
            </a:r>
            <a:r>
              <a:rPr sz="2800" dirty="0">
                <a:latin typeface="Ebrima"/>
                <a:cs typeface="Ebrima"/>
              </a:rPr>
              <a:t>Letter</a:t>
            </a:r>
            <a:r>
              <a:rPr sz="2800" spc="-15" dirty="0">
                <a:latin typeface="Ebrima"/>
                <a:cs typeface="Ebrima"/>
              </a:rPr>
              <a:t> </a:t>
            </a:r>
            <a:r>
              <a:rPr sz="2800" spc="-10" dirty="0">
                <a:latin typeface="Ebrima"/>
                <a:cs typeface="Ebrima"/>
              </a:rPr>
              <a:t>Spacing-</a:t>
            </a:r>
            <a:r>
              <a:rPr sz="2800" dirty="0">
                <a:latin typeface="Ebrima"/>
                <a:cs typeface="Ebrima"/>
              </a:rPr>
              <a:t>&gt;</a:t>
            </a:r>
            <a:r>
              <a:rPr sz="2800" spc="-20" dirty="0">
                <a:latin typeface="Ebrima"/>
                <a:cs typeface="Ebrima"/>
              </a:rPr>
              <a:t> </a:t>
            </a:r>
            <a:r>
              <a:rPr sz="2800" b="1" spc="-10" dirty="0">
                <a:solidFill>
                  <a:srgbClr val="21798F"/>
                </a:solidFill>
                <a:latin typeface="Ebrima"/>
                <a:cs typeface="Ebrima"/>
              </a:rPr>
              <a:t>letter-</a:t>
            </a:r>
            <a:r>
              <a:rPr sz="2800" b="1" dirty="0">
                <a:solidFill>
                  <a:srgbClr val="21798F"/>
                </a:solidFill>
                <a:latin typeface="Ebrima"/>
                <a:cs typeface="Ebrima"/>
              </a:rPr>
              <a:t>spacing:</a:t>
            </a:r>
            <a:r>
              <a:rPr sz="2800" b="1" spc="10" dirty="0">
                <a:solidFill>
                  <a:srgbClr val="21798F"/>
                </a:solidFill>
                <a:latin typeface="Ebrima"/>
                <a:cs typeface="Ebrima"/>
              </a:rPr>
              <a:t> </a:t>
            </a:r>
            <a:r>
              <a:rPr sz="2800" b="1" spc="-20" dirty="0">
                <a:solidFill>
                  <a:srgbClr val="21798F"/>
                </a:solidFill>
                <a:latin typeface="Ebrima"/>
                <a:cs typeface="Ebrima"/>
              </a:rPr>
              <a:t>3px; </a:t>
            </a:r>
            <a:r>
              <a:rPr sz="2800" dirty="0">
                <a:latin typeface="Ebrima"/>
                <a:cs typeface="Ebrima"/>
              </a:rPr>
              <a:t>Word</a:t>
            </a:r>
            <a:r>
              <a:rPr sz="2800" spc="-20" dirty="0">
                <a:latin typeface="Ebrima"/>
                <a:cs typeface="Ebrima"/>
              </a:rPr>
              <a:t> </a:t>
            </a:r>
            <a:r>
              <a:rPr sz="2800" spc="-10" dirty="0">
                <a:latin typeface="Ebrima"/>
                <a:cs typeface="Ebrima"/>
              </a:rPr>
              <a:t>Spacing-</a:t>
            </a:r>
            <a:r>
              <a:rPr sz="2800" dirty="0">
                <a:latin typeface="Ebrima"/>
                <a:cs typeface="Ebrima"/>
              </a:rPr>
              <a:t>&gt;</a:t>
            </a:r>
            <a:r>
              <a:rPr sz="2800" spc="-25" dirty="0">
                <a:latin typeface="Ebrima"/>
                <a:cs typeface="Ebrima"/>
              </a:rPr>
              <a:t> </a:t>
            </a:r>
            <a:r>
              <a:rPr sz="2800" b="1" spc="-25" dirty="0">
                <a:latin typeface="Ebrima"/>
                <a:cs typeface="Ebrima"/>
              </a:rPr>
              <a:t>word-</a:t>
            </a:r>
            <a:r>
              <a:rPr sz="2800" b="1" dirty="0">
                <a:latin typeface="Ebrima"/>
                <a:cs typeface="Ebrima"/>
              </a:rPr>
              <a:t>spacing:</a:t>
            </a:r>
            <a:r>
              <a:rPr sz="2800" b="1" spc="35" dirty="0">
                <a:latin typeface="Ebrima"/>
                <a:cs typeface="Ebrima"/>
              </a:rPr>
              <a:t> </a:t>
            </a:r>
            <a:r>
              <a:rPr sz="2800" b="1" spc="-10" dirty="0">
                <a:latin typeface="Ebrima"/>
                <a:cs typeface="Ebrima"/>
              </a:rPr>
              <a:t>10px;</a:t>
            </a:r>
            <a:endParaRPr sz="2800">
              <a:latin typeface="Ebrima"/>
              <a:cs typeface="Ebrima"/>
            </a:endParaRPr>
          </a:p>
          <a:p>
            <a:pPr marL="12700" algn="just">
              <a:lnSpc>
                <a:spcPct val="100000"/>
              </a:lnSpc>
              <a:spcBef>
                <a:spcPts val="705"/>
              </a:spcBef>
            </a:pPr>
            <a:r>
              <a:rPr sz="2800" dirty="0">
                <a:latin typeface="Ebrima"/>
                <a:cs typeface="Ebrima"/>
              </a:rPr>
              <a:t>text</a:t>
            </a:r>
            <a:r>
              <a:rPr sz="2800" spc="-45" dirty="0">
                <a:latin typeface="Ebrima"/>
                <a:cs typeface="Ebrima"/>
              </a:rPr>
              <a:t> </a:t>
            </a:r>
            <a:r>
              <a:rPr sz="2800" spc="-10" dirty="0">
                <a:latin typeface="Ebrima"/>
                <a:cs typeface="Ebrima"/>
              </a:rPr>
              <a:t>Shadow-</a:t>
            </a:r>
            <a:r>
              <a:rPr sz="2800" dirty="0">
                <a:latin typeface="Ebrima"/>
                <a:cs typeface="Ebrima"/>
              </a:rPr>
              <a:t>&gt;</a:t>
            </a:r>
            <a:r>
              <a:rPr sz="2800" spc="-50" dirty="0">
                <a:latin typeface="Ebrima"/>
                <a:cs typeface="Ebrima"/>
              </a:rPr>
              <a:t> </a:t>
            </a:r>
            <a:r>
              <a:rPr sz="2800" b="1" spc="-10" dirty="0">
                <a:solidFill>
                  <a:srgbClr val="21798F"/>
                </a:solidFill>
                <a:latin typeface="Ebrima"/>
                <a:cs typeface="Ebrima"/>
              </a:rPr>
              <a:t>text-</a:t>
            </a:r>
            <a:r>
              <a:rPr sz="2800" b="1" dirty="0">
                <a:solidFill>
                  <a:srgbClr val="21798F"/>
                </a:solidFill>
                <a:latin typeface="Ebrima"/>
                <a:cs typeface="Ebrima"/>
              </a:rPr>
              <a:t>shadow:</a:t>
            </a:r>
            <a:r>
              <a:rPr sz="2800" b="1" spc="-20" dirty="0">
                <a:solidFill>
                  <a:srgbClr val="21798F"/>
                </a:solidFill>
                <a:latin typeface="Ebrima"/>
                <a:cs typeface="Ebrima"/>
              </a:rPr>
              <a:t> </a:t>
            </a:r>
            <a:r>
              <a:rPr sz="2800" b="1" dirty="0">
                <a:solidFill>
                  <a:srgbClr val="21798F"/>
                </a:solidFill>
                <a:latin typeface="Ebrima"/>
                <a:cs typeface="Ebrima"/>
              </a:rPr>
              <a:t>3px</a:t>
            </a:r>
            <a:r>
              <a:rPr sz="2800" b="1" spc="-45" dirty="0">
                <a:solidFill>
                  <a:srgbClr val="21798F"/>
                </a:solidFill>
                <a:latin typeface="Ebrima"/>
                <a:cs typeface="Ebrima"/>
              </a:rPr>
              <a:t> </a:t>
            </a:r>
            <a:r>
              <a:rPr sz="2800" b="1" dirty="0">
                <a:solidFill>
                  <a:srgbClr val="21798F"/>
                </a:solidFill>
                <a:latin typeface="Ebrima"/>
                <a:cs typeface="Ebrima"/>
              </a:rPr>
              <a:t>2px</a:t>
            </a:r>
            <a:r>
              <a:rPr sz="2800" b="1" spc="-40" dirty="0">
                <a:solidFill>
                  <a:srgbClr val="21798F"/>
                </a:solidFill>
                <a:latin typeface="Ebrima"/>
                <a:cs typeface="Ebrima"/>
              </a:rPr>
              <a:t> </a:t>
            </a:r>
            <a:r>
              <a:rPr sz="2800" b="1" dirty="0">
                <a:solidFill>
                  <a:srgbClr val="21798F"/>
                </a:solidFill>
                <a:latin typeface="Ebrima"/>
                <a:cs typeface="Ebrima"/>
              </a:rPr>
              <a:t>3px</a:t>
            </a:r>
            <a:r>
              <a:rPr sz="2800" b="1" spc="-40" dirty="0">
                <a:solidFill>
                  <a:srgbClr val="21798F"/>
                </a:solidFill>
                <a:latin typeface="Ebrima"/>
                <a:cs typeface="Ebrima"/>
              </a:rPr>
              <a:t> </a:t>
            </a:r>
            <a:r>
              <a:rPr sz="2800" b="1" spc="-20" dirty="0">
                <a:solidFill>
                  <a:srgbClr val="21798F"/>
                </a:solidFill>
                <a:latin typeface="Ebrima"/>
                <a:cs typeface="Ebrima"/>
              </a:rPr>
              <a:t>red;</a:t>
            </a:r>
            <a:endParaRPr sz="2800">
              <a:latin typeface="Ebrima"/>
              <a:cs typeface="Ebrima"/>
            </a:endParaRPr>
          </a:p>
          <a:p>
            <a:pPr marL="12700" algn="just">
              <a:lnSpc>
                <a:spcPct val="100000"/>
              </a:lnSpc>
              <a:spcBef>
                <a:spcPts val="700"/>
              </a:spcBef>
            </a:pPr>
            <a:r>
              <a:rPr sz="2800" dirty="0">
                <a:latin typeface="Ebrima"/>
                <a:cs typeface="Ebrima"/>
              </a:rPr>
              <a:t>Line</a:t>
            </a:r>
            <a:r>
              <a:rPr sz="2800" spc="5" dirty="0">
                <a:latin typeface="Ebrima"/>
                <a:cs typeface="Ebrima"/>
              </a:rPr>
              <a:t> </a:t>
            </a:r>
            <a:r>
              <a:rPr sz="2800" spc="-10" dirty="0">
                <a:latin typeface="Ebrima"/>
                <a:cs typeface="Ebrima"/>
              </a:rPr>
              <a:t>Height-</a:t>
            </a:r>
            <a:r>
              <a:rPr sz="2800" dirty="0">
                <a:latin typeface="Ebrima"/>
                <a:cs typeface="Ebrima"/>
              </a:rPr>
              <a:t>&gt;</a:t>
            </a:r>
            <a:r>
              <a:rPr sz="2800" spc="10" dirty="0">
                <a:latin typeface="Ebrima"/>
                <a:cs typeface="Ebrima"/>
              </a:rPr>
              <a:t> </a:t>
            </a:r>
            <a:r>
              <a:rPr sz="2800" b="1" spc="-20" dirty="0">
                <a:latin typeface="Ebrima"/>
                <a:cs typeface="Ebrima"/>
              </a:rPr>
              <a:t>line-</a:t>
            </a:r>
            <a:r>
              <a:rPr sz="2800" b="1" dirty="0">
                <a:latin typeface="Ebrima"/>
                <a:cs typeface="Ebrima"/>
              </a:rPr>
              <a:t>height:</a:t>
            </a:r>
            <a:r>
              <a:rPr sz="2800" b="1" spc="30" dirty="0">
                <a:latin typeface="Ebrima"/>
                <a:cs typeface="Ebrima"/>
              </a:rPr>
              <a:t> </a:t>
            </a:r>
            <a:r>
              <a:rPr sz="2800" b="1" spc="-20" dirty="0">
                <a:latin typeface="Ebrima"/>
                <a:cs typeface="Ebrima"/>
              </a:rPr>
              <a:t>1.5;</a:t>
            </a:r>
            <a:endParaRPr sz="28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547" rIns="0" bIns="0" rtlCol="0">
            <a:spAutoFit/>
          </a:bodyPr>
          <a:lstStyle/>
          <a:p>
            <a:pPr marL="98044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CSS</a:t>
            </a:r>
            <a:r>
              <a:rPr sz="4000" spc="-20" dirty="0"/>
              <a:t> </a:t>
            </a:r>
            <a:r>
              <a:rPr sz="4000" dirty="0">
                <a:solidFill>
                  <a:srgbClr val="464646"/>
                </a:solidFill>
              </a:rPr>
              <a:t>(Cascading</a:t>
            </a:r>
            <a:r>
              <a:rPr sz="4000" spc="-20" dirty="0">
                <a:solidFill>
                  <a:srgbClr val="464646"/>
                </a:solidFill>
              </a:rPr>
              <a:t> </a:t>
            </a:r>
            <a:r>
              <a:rPr sz="4000" dirty="0">
                <a:solidFill>
                  <a:srgbClr val="464646"/>
                </a:solidFill>
              </a:rPr>
              <a:t>Style </a:t>
            </a:r>
            <a:r>
              <a:rPr sz="4000" spc="-10" dirty="0">
                <a:solidFill>
                  <a:srgbClr val="464646"/>
                </a:solidFill>
              </a:rPr>
              <a:t>Sheets)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8739" y="1195852"/>
            <a:ext cx="5023485" cy="347091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875"/>
              </a:spcBef>
            </a:pPr>
            <a:r>
              <a:rPr sz="2800" b="1" u="sng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FONTS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700" spc="-20" dirty="0">
                <a:latin typeface="Ebrima"/>
                <a:cs typeface="Ebrima"/>
              </a:rPr>
              <a:t>@font-face{</a:t>
            </a:r>
            <a:endParaRPr sz="2700" dirty="0">
              <a:latin typeface="Ebrima"/>
              <a:cs typeface="Ebrima"/>
            </a:endParaRPr>
          </a:p>
          <a:p>
            <a:pPr marL="332740" marR="1153160">
              <a:lnSpc>
                <a:spcPts val="3940"/>
              </a:lnSpc>
              <a:spcBef>
                <a:spcPts val="245"/>
              </a:spcBef>
            </a:pPr>
            <a:r>
              <a:rPr sz="2700" u="sng" dirty="0">
                <a:solidFill>
                  <a:srgbClr val="FF8118"/>
                </a:solidFill>
                <a:uFill>
                  <a:solidFill>
                    <a:srgbClr val="FF8118"/>
                  </a:solidFill>
                </a:uFill>
                <a:latin typeface="Ebrima"/>
                <a:cs typeface="Ebrima"/>
                <a:hlinkClick r:id="rId2"/>
              </a:rPr>
              <a:t>src:</a:t>
            </a:r>
            <a:r>
              <a:rPr sz="2700" u="sng" spc="-40" dirty="0">
                <a:solidFill>
                  <a:srgbClr val="FF8118"/>
                </a:solidFill>
                <a:uFill>
                  <a:solidFill>
                    <a:srgbClr val="FF8118"/>
                  </a:solidFill>
                </a:uFill>
                <a:latin typeface="Ebrima"/>
                <a:cs typeface="Ebrima"/>
                <a:hlinkClick r:id="rId2"/>
              </a:rPr>
              <a:t> </a:t>
            </a:r>
            <a:r>
              <a:rPr sz="2700" u="sng" spc="-10" dirty="0">
                <a:solidFill>
                  <a:srgbClr val="FF8118"/>
                </a:solidFill>
                <a:uFill>
                  <a:solidFill>
                    <a:srgbClr val="FF8118"/>
                  </a:solidFill>
                </a:uFill>
                <a:latin typeface="Ebrima"/>
                <a:cs typeface="Ebrima"/>
                <a:hlinkClick r:id="rId2"/>
              </a:rPr>
              <a:t>url(“URL/SOURCE”)</a:t>
            </a:r>
            <a:r>
              <a:rPr sz="2700" spc="-10" dirty="0">
                <a:latin typeface="Ebrima"/>
                <a:cs typeface="Ebrima"/>
              </a:rPr>
              <a:t>; </a:t>
            </a:r>
            <a:r>
              <a:rPr sz="2700" spc="-20" dirty="0">
                <a:latin typeface="Ebrima"/>
                <a:cs typeface="Ebrima"/>
              </a:rPr>
              <a:t>font-</a:t>
            </a:r>
            <a:r>
              <a:rPr sz="2700" dirty="0">
                <a:latin typeface="Ebrima"/>
                <a:cs typeface="Ebrima"/>
              </a:rPr>
              <a:t>family:</a:t>
            </a:r>
            <a:r>
              <a:rPr sz="2700" spc="-40" dirty="0">
                <a:latin typeface="Ebrima"/>
                <a:cs typeface="Ebrima"/>
              </a:rPr>
              <a:t> </a:t>
            </a:r>
            <a:r>
              <a:rPr sz="2700" spc="-10" dirty="0">
                <a:latin typeface="Ebrima"/>
                <a:cs typeface="Ebrima"/>
              </a:rPr>
              <a:t>myFont;</a:t>
            </a:r>
            <a:endParaRPr sz="2700" dirty="0">
              <a:latin typeface="Ebrima"/>
              <a:cs typeface="Ebrima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2700" spc="-50" dirty="0">
                <a:latin typeface="Ebrima"/>
                <a:cs typeface="Ebrima"/>
              </a:rPr>
              <a:t>}</a:t>
            </a:r>
            <a:endParaRPr sz="2700" dirty="0">
              <a:latin typeface="Ebrima"/>
              <a:cs typeface="Ebrima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700" b="1" u="sng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EX:</a:t>
            </a:r>
            <a:r>
              <a:rPr sz="2700" b="1" u="sng" spc="-20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 </a:t>
            </a:r>
            <a:r>
              <a:rPr sz="2700" b="1" u="sng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use</a:t>
            </a:r>
            <a:r>
              <a:rPr sz="2700" b="1" u="sng" spc="-20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 </a:t>
            </a:r>
            <a:r>
              <a:rPr sz="2700" b="1" u="sng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in</a:t>
            </a:r>
            <a:r>
              <a:rPr sz="2700" b="1" u="sng" spc="-25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 </a:t>
            </a:r>
            <a:r>
              <a:rPr sz="2700" b="1" u="sng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p:</a:t>
            </a:r>
            <a:r>
              <a:rPr sz="2700" b="1" u="sng" spc="-15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 </a:t>
            </a:r>
            <a:r>
              <a:rPr sz="2700" spc="-25" dirty="0">
                <a:latin typeface="Ebrima"/>
                <a:cs typeface="Ebrima"/>
              </a:rPr>
              <a:t>p{</a:t>
            </a:r>
            <a:endParaRPr sz="2700" dirty="0">
              <a:latin typeface="Ebrima"/>
              <a:cs typeface="Ebrima"/>
            </a:endParaRPr>
          </a:p>
          <a:p>
            <a:pPr marL="707390">
              <a:lnSpc>
                <a:spcPct val="100000"/>
              </a:lnSpc>
              <a:spcBef>
                <a:spcPts val="15"/>
              </a:spcBef>
            </a:pPr>
            <a:r>
              <a:rPr sz="2700" spc="-20" dirty="0">
                <a:latin typeface="Ebrima"/>
                <a:cs typeface="Ebrima"/>
              </a:rPr>
              <a:t>font-</a:t>
            </a:r>
            <a:r>
              <a:rPr sz="2700" dirty="0">
                <a:latin typeface="Ebrima"/>
                <a:cs typeface="Ebrima"/>
              </a:rPr>
              <a:t>family:</a:t>
            </a:r>
            <a:r>
              <a:rPr sz="2700" spc="-55" dirty="0">
                <a:latin typeface="Ebrima"/>
                <a:cs typeface="Ebrima"/>
              </a:rPr>
              <a:t> </a:t>
            </a:r>
            <a:r>
              <a:rPr sz="2700" spc="-10" dirty="0">
                <a:latin typeface="Ebrima"/>
                <a:cs typeface="Ebrima"/>
              </a:rPr>
              <a:t>myFontName;</a:t>
            </a:r>
            <a:endParaRPr sz="2700" dirty="0">
              <a:latin typeface="Ebrima"/>
              <a:cs typeface="Ebri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8779" y="4639309"/>
            <a:ext cx="12890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0" dirty="0">
                <a:latin typeface="Ebrima"/>
                <a:cs typeface="Ebrima"/>
              </a:rPr>
              <a:t>}</a:t>
            </a:r>
            <a:endParaRPr sz="27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547" rIns="0" bIns="0" rtlCol="0">
            <a:spAutoFit/>
          </a:bodyPr>
          <a:lstStyle/>
          <a:p>
            <a:pPr marL="98044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CSS</a:t>
            </a:r>
            <a:r>
              <a:rPr sz="4000" spc="-20" dirty="0"/>
              <a:t> </a:t>
            </a:r>
            <a:r>
              <a:rPr sz="4000" dirty="0">
                <a:solidFill>
                  <a:srgbClr val="464646"/>
                </a:solidFill>
              </a:rPr>
              <a:t>(Cascading</a:t>
            </a:r>
            <a:r>
              <a:rPr sz="4000" spc="-20" dirty="0">
                <a:solidFill>
                  <a:srgbClr val="464646"/>
                </a:solidFill>
              </a:rPr>
              <a:t> </a:t>
            </a:r>
            <a:r>
              <a:rPr sz="4000" dirty="0">
                <a:solidFill>
                  <a:srgbClr val="464646"/>
                </a:solidFill>
              </a:rPr>
              <a:t>Style </a:t>
            </a:r>
            <a:r>
              <a:rPr sz="4000" spc="-10" dirty="0">
                <a:solidFill>
                  <a:srgbClr val="464646"/>
                </a:solidFill>
              </a:rPr>
              <a:t>Sheets)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8739" y="1212804"/>
            <a:ext cx="8401685" cy="318389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582295" algn="ctr">
              <a:lnSpc>
                <a:spcPct val="100000"/>
              </a:lnSpc>
              <a:spcBef>
                <a:spcPts val="745"/>
              </a:spcBef>
            </a:pPr>
            <a:r>
              <a:rPr sz="2800" b="1" u="sng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FONTS</a:t>
            </a:r>
            <a:endParaRPr sz="2800" dirty="0">
              <a:latin typeface="Times New Roman"/>
              <a:cs typeface="Times New Roman"/>
            </a:endParaRPr>
          </a:p>
          <a:p>
            <a:pPr marL="332740" marR="15875" indent="-320040">
              <a:lnSpc>
                <a:spcPct val="100000"/>
              </a:lnSpc>
              <a:spcBef>
                <a:spcPts val="730"/>
              </a:spcBef>
            </a:pPr>
            <a:r>
              <a:rPr sz="3200" spc="-20" dirty="0">
                <a:latin typeface="Ebrima"/>
                <a:cs typeface="Ebrima"/>
              </a:rPr>
              <a:t>font-</a:t>
            </a:r>
            <a:r>
              <a:rPr sz="3200" dirty="0">
                <a:latin typeface="Ebrima"/>
                <a:cs typeface="Ebrima"/>
              </a:rPr>
              <a:t>size:</a:t>
            </a:r>
            <a:r>
              <a:rPr sz="3200" spc="125" dirty="0">
                <a:latin typeface="Ebrima"/>
                <a:cs typeface="Ebrima"/>
              </a:rPr>
              <a:t> </a:t>
            </a:r>
            <a:r>
              <a:rPr sz="3000" spc="-10" dirty="0">
                <a:solidFill>
                  <a:srgbClr val="21798F"/>
                </a:solidFill>
                <a:latin typeface="Ebrima"/>
                <a:cs typeface="Ebrima"/>
              </a:rPr>
              <a:t>medium|xx-small|x-small|small|large|x- large|xx-large|smaller|larger|length|initial|inherit;</a:t>
            </a:r>
            <a:endParaRPr sz="3000" dirty="0">
              <a:latin typeface="Ebrima"/>
              <a:cs typeface="Ebrima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3200" spc="-20" dirty="0">
                <a:latin typeface="Ebrima"/>
                <a:cs typeface="Ebrima"/>
              </a:rPr>
              <a:t>font-</a:t>
            </a:r>
            <a:r>
              <a:rPr sz="3200" dirty="0">
                <a:latin typeface="Ebrima"/>
                <a:cs typeface="Ebrima"/>
              </a:rPr>
              <a:t>style:</a:t>
            </a:r>
            <a:r>
              <a:rPr sz="3200" spc="-15" dirty="0">
                <a:latin typeface="Ebrima"/>
                <a:cs typeface="Ebrima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Ebrima"/>
                <a:cs typeface="Ebrima"/>
              </a:rPr>
              <a:t>normal|italic|oblique|initial|inherit;</a:t>
            </a:r>
            <a:endParaRPr sz="3000" dirty="0">
              <a:latin typeface="Ebrima"/>
              <a:cs typeface="Ebrima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3200" spc="-20" dirty="0">
                <a:latin typeface="Ebrima"/>
                <a:cs typeface="Ebrima"/>
              </a:rPr>
              <a:t>font-</a:t>
            </a:r>
            <a:r>
              <a:rPr sz="3200" spc="-10" dirty="0">
                <a:latin typeface="Ebrima"/>
                <a:cs typeface="Ebrima"/>
              </a:rPr>
              <a:t>weight:</a:t>
            </a:r>
            <a:endParaRPr sz="3200" dirty="0">
              <a:latin typeface="Ebrima"/>
              <a:cs typeface="Ebrima"/>
            </a:endParaRPr>
          </a:p>
          <a:p>
            <a:pPr marL="332740">
              <a:lnSpc>
                <a:spcPct val="100000"/>
              </a:lnSpc>
              <a:spcBef>
                <a:spcPts val="10"/>
              </a:spcBef>
            </a:pPr>
            <a:r>
              <a:rPr sz="3000" spc="-10" dirty="0">
                <a:solidFill>
                  <a:srgbClr val="21798F"/>
                </a:solidFill>
                <a:latin typeface="Ebrima"/>
                <a:cs typeface="Ebrima"/>
              </a:rPr>
              <a:t>normal|bold|bolder|lighter|number|initial|inherit;</a:t>
            </a:r>
            <a:endParaRPr sz="3000" dirty="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547" rIns="0" bIns="0" rtlCol="0">
            <a:spAutoFit/>
          </a:bodyPr>
          <a:lstStyle/>
          <a:p>
            <a:pPr marL="98044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CSS</a:t>
            </a:r>
            <a:r>
              <a:rPr sz="4000" spc="-20" dirty="0"/>
              <a:t> </a:t>
            </a:r>
            <a:r>
              <a:rPr sz="4000" dirty="0">
                <a:solidFill>
                  <a:srgbClr val="464646"/>
                </a:solidFill>
              </a:rPr>
              <a:t>(Cascading</a:t>
            </a:r>
            <a:r>
              <a:rPr sz="4000" spc="-20" dirty="0">
                <a:solidFill>
                  <a:srgbClr val="464646"/>
                </a:solidFill>
              </a:rPr>
              <a:t> </a:t>
            </a:r>
            <a:r>
              <a:rPr sz="4000" dirty="0">
                <a:solidFill>
                  <a:srgbClr val="464646"/>
                </a:solidFill>
              </a:rPr>
              <a:t>Style </a:t>
            </a:r>
            <a:r>
              <a:rPr sz="4000" spc="-10" dirty="0">
                <a:solidFill>
                  <a:srgbClr val="464646"/>
                </a:solidFill>
              </a:rPr>
              <a:t>Sheets)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8739" y="1226058"/>
            <a:ext cx="5196205" cy="243332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R="220345" algn="r">
              <a:lnSpc>
                <a:spcPct val="100000"/>
              </a:lnSpc>
              <a:spcBef>
                <a:spcPts val="640"/>
              </a:spcBef>
            </a:pPr>
            <a:r>
              <a:rPr sz="2800" b="1" u="sng" spc="-30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ICONS</a:t>
            </a:r>
            <a:endParaRPr sz="2800">
              <a:latin typeface="Times New Roman"/>
              <a:cs typeface="Times New Roman"/>
            </a:endParaRPr>
          </a:p>
          <a:p>
            <a:pPr marL="755015" indent="-742315">
              <a:lnSpc>
                <a:spcPct val="100000"/>
              </a:lnSpc>
              <a:spcBef>
                <a:spcPts val="690"/>
              </a:spcBef>
              <a:buClr>
                <a:srgbClr val="DA1F28"/>
              </a:buClr>
              <a:buSzPct val="59722"/>
              <a:buAutoNum type="arabicPeriod"/>
              <a:tabLst>
                <a:tab pos="755015" algn="l"/>
              </a:tabLst>
            </a:pPr>
            <a:r>
              <a:rPr sz="3600" b="1" dirty="0">
                <a:solidFill>
                  <a:srgbClr val="16515F"/>
                </a:solidFill>
                <a:latin typeface="Ebrima"/>
                <a:cs typeface="Ebrima"/>
              </a:rPr>
              <a:t>Font</a:t>
            </a:r>
            <a:r>
              <a:rPr sz="3600" b="1" spc="-110" dirty="0">
                <a:solidFill>
                  <a:srgbClr val="16515F"/>
                </a:solidFill>
                <a:latin typeface="Ebrima"/>
                <a:cs typeface="Ebrima"/>
              </a:rPr>
              <a:t> </a:t>
            </a:r>
            <a:r>
              <a:rPr sz="3600" b="1" dirty="0">
                <a:solidFill>
                  <a:srgbClr val="16515F"/>
                </a:solidFill>
                <a:latin typeface="Ebrima"/>
                <a:cs typeface="Ebrima"/>
              </a:rPr>
              <a:t>Awesome</a:t>
            </a:r>
            <a:r>
              <a:rPr sz="3600" b="1" spc="-105" dirty="0">
                <a:solidFill>
                  <a:srgbClr val="16515F"/>
                </a:solidFill>
                <a:latin typeface="Ebrima"/>
                <a:cs typeface="Ebrima"/>
              </a:rPr>
              <a:t> </a:t>
            </a:r>
            <a:r>
              <a:rPr sz="3600" b="1" spc="-10" dirty="0">
                <a:solidFill>
                  <a:srgbClr val="16515F"/>
                </a:solidFill>
                <a:latin typeface="Ebrima"/>
                <a:cs typeface="Ebrima"/>
              </a:rPr>
              <a:t>Icons</a:t>
            </a:r>
            <a:endParaRPr sz="3600">
              <a:latin typeface="Ebrima"/>
              <a:cs typeface="Ebrima"/>
            </a:endParaRPr>
          </a:p>
          <a:p>
            <a:pPr marL="755015" indent="-742315">
              <a:lnSpc>
                <a:spcPct val="100000"/>
              </a:lnSpc>
              <a:spcBef>
                <a:spcPts val="705"/>
              </a:spcBef>
              <a:buClr>
                <a:srgbClr val="DA1F28"/>
              </a:buClr>
              <a:buSzPct val="59722"/>
              <a:buAutoNum type="arabicPeriod"/>
              <a:tabLst>
                <a:tab pos="755015" algn="l"/>
              </a:tabLst>
            </a:pPr>
            <a:r>
              <a:rPr sz="3600" b="1" dirty="0">
                <a:solidFill>
                  <a:srgbClr val="16515F"/>
                </a:solidFill>
                <a:latin typeface="Ebrima"/>
                <a:cs typeface="Ebrima"/>
              </a:rPr>
              <a:t>Bootstrap</a:t>
            </a:r>
            <a:r>
              <a:rPr sz="3600" b="1" spc="-200" dirty="0">
                <a:solidFill>
                  <a:srgbClr val="16515F"/>
                </a:solidFill>
                <a:latin typeface="Ebrima"/>
                <a:cs typeface="Ebrima"/>
              </a:rPr>
              <a:t> </a:t>
            </a:r>
            <a:r>
              <a:rPr sz="3600" b="1" spc="-10" dirty="0">
                <a:solidFill>
                  <a:srgbClr val="16515F"/>
                </a:solidFill>
                <a:latin typeface="Ebrima"/>
                <a:cs typeface="Ebrima"/>
              </a:rPr>
              <a:t>Icons</a:t>
            </a:r>
            <a:endParaRPr sz="3600">
              <a:latin typeface="Ebrima"/>
              <a:cs typeface="Ebrima"/>
            </a:endParaRPr>
          </a:p>
          <a:p>
            <a:pPr marL="755015" indent="-742315">
              <a:lnSpc>
                <a:spcPct val="100000"/>
              </a:lnSpc>
              <a:spcBef>
                <a:spcPts val="705"/>
              </a:spcBef>
              <a:buClr>
                <a:srgbClr val="DA1F28"/>
              </a:buClr>
              <a:buSzPct val="59722"/>
              <a:buAutoNum type="arabicPeriod"/>
              <a:tabLst>
                <a:tab pos="755015" algn="l"/>
              </a:tabLst>
            </a:pPr>
            <a:r>
              <a:rPr sz="3600" b="1" dirty="0">
                <a:solidFill>
                  <a:srgbClr val="16515F"/>
                </a:solidFill>
                <a:latin typeface="Ebrima"/>
                <a:cs typeface="Ebrima"/>
              </a:rPr>
              <a:t>Remix</a:t>
            </a:r>
            <a:r>
              <a:rPr sz="3600" b="1" spc="-135" dirty="0">
                <a:solidFill>
                  <a:srgbClr val="16515F"/>
                </a:solidFill>
                <a:latin typeface="Ebrima"/>
                <a:cs typeface="Ebrima"/>
              </a:rPr>
              <a:t> </a:t>
            </a:r>
            <a:r>
              <a:rPr sz="3600" b="1" spc="-10" dirty="0">
                <a:solidFill>
                  <a:srgbClr val="16515F"/>
                </a:solidFill>
                <a:latin typeface="Ebrima"/>
                <a:cs typeface="Ebrima"/>
              </a:rPr>
              <a:t>Icons</a:t>
            </a:r>
            <a:endParaRPr sz="3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547" rIns="0" bIns="0" rtlCol="0">
            <a:spAutoFit/>
          </a:bodyPr>
          <a:lstStyle/>
          <a:p>
            <a:pPr marL="98044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CSS</a:t>
            </a:r>
            <a:r>
              <a:rPr sz="4000" spc="-20" dirty="0"/>
              <a:t> </a:t>
            </a:r>
            <a:r>
              <a:rPr sz="4000" dirty="0">
                <a:solidFill>
                  <a:srgbClr val="464646"/>
                </a:solidFill>
              </a:rPr>
              <a:t>(Cascading</a:t>
            </a:r>
            <a:r>
              <a:rPr sz="4000" spc="-20" dirty="0">
                <a:solidFill>
                  <a:srgbClr val="464646"/>
                </a:solidFill>
              </a:rPr>
              <a:t> </a:t>
            </a:r>
            <a:r>
              <a:rPr sz="4000" dirty="0">
                <a:solidFill>
                  <a:srgbClr val="464646"/>
                </a:solidFill>
              </a:rPr>
              <a:t>Style </a:t>
            </a:r>
            <a:r>
              <a:rPr sz="4000" spc="-10" dirty="0">
                <a:solidFill>
                  <a:srgbClr val="464646"/>
                </a:solidFill>
              </a:rPr>
              <a:t>Sheets)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8739" y="1215473"/>
            <a:ext cx="8248650" cy="272288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735330" algn="ctr">
              <a:lnSpc>
                <a:spcPct val="100000"/>
              </a:lnSpc>
              <a:spcBef>
                <a:spcPts val="720"/>
              </a:spcBef>
            </a:pPr>
            <a:r>
              <a:rPr sz="28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LIST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3200" b="1" u="sng" spc="-30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UL/OL-</a:t>
            </a:r>
            <a:r>
              <a:rPr sz="3200" b="1" u="sng" spc="-20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&gt;LI:</a:t>
            </a:r>
            <a:endParaRPr sz="3200" dirty="0">
              <a:latin typeface="Ebrima"/>
              <a:cs typeface="Ebrima"/>
            </a:endParaRPr>
          </a:p>
          <a:p>
            <a:pPr marL="527050" marR="5080" indent="-514350">
              <a:lnSpc>
                <a:spcPct val="100000"/>
              </a:lnSpc>
              <a:spcBef>
                <a:spcPts val="730"/>
              </a:spcBef>
            </a:pPr>
            <a:r>
              <a:rPr sz="3200" spc="-10" dirty="0">
                <a:latin typeface="Ebrima"/>
                <a:cs typeface="Ebrima"/>
              </a:rPr>
              <a:t>list-</a:t>
            </a:r>
            <a:r>
              <a:rPr sz="3200" spc="-20" dirty="0">
                <a:latin typeface="Ebrima"/>
                <a:cs typeface="Ebrima"/>
              </a:rPr>
              <a:t>style-</a:t>
            </a:r>
            <a:r>
              <a:rPr sz="3200" dirty="0">
                <a:latin typeface="Ebrima"/>
                <a:cs typeface="Ebrima"/>
              </a:rPr>
              <a:t>type:</a:t>
            </a:r>
            <a:r>
              <a:rPr sz="3200" spc="190" dirty="0">
                <a:latin typeface="Ebrima"/>
                <a:cs typeface="Ebrima"/>
              </a:rPr>
              <a:t> </a:t>
            </a:r>
            <a:r>
              <a:rPr sz="3000" spc="-10" dirty="0">
                <a:solidFill>
                  <a:srgbClr val="0F5666"/>
                </a:solidFill>
                <a:latin typeface="Ebrima"/>
                <a:cs typeface="Ebrima"/>
              </a:rPr>
              <a:t>circle|square|upper-roman|lower- alpha;</a:t>
            </a:r>
            <a:endParaRPr sz="3000" dirty="0">
              <a:latin typeface="Ebrima"/>
              <a:cs typeface="Ebrima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3200" spc="-10" dirty="0">
                <a:latin typeface="Ebrima"/>
                <a:cs typeface="Ebrima"/>
              </a:rPr>
              <a:t>list-</a:t>
            </a:r>
            <a:r>
              <a:rPr sz="3200" spc="-20" dirty="0">
                <a:latin typeface="Ebrima"/>
                <a:cs typeface="Ebrima"/>
              </a:rPr>
              <a:t>style-</a:t>
            </a:r>
            <a:r>
              <a:rPr sz="3200" dirty="0">
                <a:latin typeface="Ebrima"/>
                <a:cs typeface="Ebrima"/>
              </a:rPr>
              <a:t>image:</a:t>
            </a:r>
            <a:r>
              <a:rPr sz="3200" spc="-5" dirty="0">
                <a:latin typeface="Ebrima"/>
                <a:cs typeface="Ebrima"/>
              </a:rPr>
              <a:t> </a:t>
            </a:r>
            <a:r>
              <a:rPr sz="3000" dirty="0">
                <a:solidFill>
                  <a:srgbClr val="0F5666"/>
                </a:solidFill>
                <a:latin typeface="Ebrima"/>
                <a:cs typeface="Ebrima"/>
              </a:rPr>
              <a:t>url(image</a:t>
            </a:r>
            <a:r>
              <a:rPr sz="3000" spc="-30" dirty="0">
                <a:solidFill>
                  <a:srgbClr val="0F5666"/>
                </a:solidFill>
                <a:latin typeface="Ebrima"/>
                <a:cs typeface="Ebrima"/>
              </a:rPr>
              <a:t> </a:t>
            </a:r>
            <a:r>
              <a:rPr sz="3000" spc="-10" dirty="0">
                <a:solidFill>
                  <a:srgbClr val="0F5666"/>
                </a:solidFill>
                <a:latin typeface="Ebrima"/>
                <a:cs typeface="Ebrima"/>
              </a:rPr>
              <a:t>link);</a:t>
            </a:r>
            <a:endParaRPr sz="3000" dirty="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547" rIns="0" bIns="0" rtlCol="0">
            <a:spAutoFit/>
          </a:bodyPr>
          <a:lstStyle/>
          <a:p>
            <a:pPr marL="98044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CSS</a:t>
            </a:r>
            <a:r>
              <a:rPr sz="4000" spc="-20" dirty="0"/>
              <a:t> </a:t>
            </a:r>
            <a:r>
              <a:rPr sz="4000" dirty="0">
                <a:solidFill>
                  <a:srgbClr val="464646"/>
                </a:solidFill>
              </a:rPr>
              <a:t>(Cascading</a:t>
            </a:r>
            <a:r>
              <a:rPr sz="4000" spc="-20" dirty="0">
                <a:solidFill>
                  <a:srgbClr val="464646"/>
                </a:solidFill>
              </a:rPr>
              <a:t> </a:t>
            </a:r>
            <a:r>
              <a:rPr sz="4000" dirty="0">
                <a:solidFill>
                  <a:srgbClr val="464646"/>
                </a:solidFill>
              </a:rPr>
              <a:t>Style </a:t>
            </a:r>
            <a:r>
              <a:rPr sz="4000" spc="-10" dirty="0">
                <a:solidFill>
                  <a:srgbClr val="464646"/>
                </a:solidFill>
              </a:rPr>
              <a:t>Sheets)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123948" y="1228855"/>
            <a:ext cx="4897120" cy="2701925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570"/>
              </a:spcBef>
            </a:pPr>
            <a:r>
              <a:rPr sz="4000" b="1" u="sng" spc="-40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ELEMENT</a:t>
            </a:r>
            <a:endParaRPr sz="4000" dirty="0">
              <a:latin typeface="Times New Roman"/>
              <a:cs typeface="Times New Roman"/>
            </a:endParaRPr>
          </a:p>
          <a:p>
            <a:pPr marL="12700" marR="5080" algn="ctr">
              <a:lnSpc>
                <a:spcPts val="7900"/>
              </a:lnSpc>
              <a:spcBef>
                <a:spcPts val="180"/>
              </a:spcBef>
            </a:pPr>
            <a:r>
              <a:rPr sz="6000" dirty="0">
                <a:latin typeface="Arial MT"/>
                <a:cs typeface="Arial MT"/>
              </a:rPr>
              <a:t>Block</a:t>
            </a:r>
            <a:r>
              <a:rPr sz="6000" spc="-150" dirty="0">
                <a:latin typeface="Arial MT"/>
                <a:cs typeface="Arial MT"/>
              </a:rPr>
              <a:t> </a:t>
            </a:r>
            <a:r>
              <a:rPr sz="6000" spc="-10" dirty="0">
                <a:latin typeface="Arial MT"/>
                <a:cs typeface="Arial MT"/>
              </a:rPr>
              <a:t>Element </a:t>
            </a:r>
            <a:r>
              <a:rPr sz="6000" dirty="0">
                <a:latin typeface="Arial MT"/>
                <a:cs typeface="Arial MT"/>
              </a:rPr>
              <a:t>Inline</a:t>
            </a:r>
            <a:r>
              <a:rPr sz="6000" spc="-25" dirty="0">
                <a:latin typeface="Arial MT"/>
                <a:cs typeface="Arial MT"/>
              </a:rPr>
              <a:t> </a:t>
            </a:r>
            <a:r>
              <a:rPr sz="6000" spc="-10" dirty="0">
                <a:latin typeface="Arial MT"/>
                <a:cs typeface="Arial MT"/>
              </a:rPr>
              <a:t>Element</a:t>
            </a:r>
            <a:endParaRPr sz="6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547" rIns="0" bIns="0" rtlCol="0">
            <a:spAutoFit/>
          </a:bodyPr>
          <a:lstStyle/>
          <a:p>
            <a:pPr marL="98044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CSS</a:t>
            </a:r>
            <a:r>
              <a:rPr sz="4000" spc="-20" dirty="0"/>
              <a:t> </a:t>
            </a:r>
            <a:r>
              <a:rPr sz="4000" dirty="0">
                <a:solidFill>
                  <a:srgbClr val="464646"/>
                </a:solidFill>
              </a:rPr>
              <a:t>(Cascading</a:t>
            </a:r>
            <a:r>
              <a:rPr sz="4000" spc="-20" dirty="0">
                <a:solidFill>
                  <a:srgbClr val="464646"/>
                </a:solidFill>
              </a:rPr>
              <a:t> </a:t>
            </a:r>
            <a:r>
              <a:rPr sz="4000" dirty="0">
                <a:solidFill>
                  <a:srgbClr val="464646"/>
                </a:solidFill>
              </a:rPr>
              <a:t>Style </a:t>
            </a:r>
            <a:r>
              <a:rPr sz="4000" spc="-10" dirty="0">
                <a:solidFill>
                  <a:srgbClr val="464646"/>
                </a:solidFill>
              </a:rPr>
              <a:t>Sheets)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8739" y="1215473"/>
            <a:ext cx="8457565" cy="283972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526415" algn="ctr">
              <a:lnSpc>
                <a:spcPct val="100000"/>
              </a:lnSpc>
              <a:spcBef>
                <a:spcPts val="720"/>
              </a:spcBef>
            </a:pPr>
            <a:r>
              <a:rPr sz="28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DISPLAY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3200" b="1" u="sng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Display</a:t>
            </a:r>
            <a:r>
              <a:rPr sz="3200" b="1" u="sng" spc="-85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 </a:t>
            </a:r>
            <a:r>
              <a:rPr sz="3200" b="1" u="sng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Property</a:t>
            </a:r>
            <a:r>
              <a:rPr sz="3200" b="1" u="sng" spc="-85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 </a:t>
            </a:r>
            <a:r>
              <a:rPr sz="3200" b="1" u="sng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depend</a:t>
            </a:r>
            <a:r>
              <a:rPr sz="3200" b="1" u="sng" spc="-75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 </a:t>
            </a:r>
            <a:r>
              <a:rPr sz="3200" b="1" u="sng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on</a:t>
            </a:r>
            <a:r>
              <a:rPr sz="3200" b="1" u="sng" spc="-95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 </a:t>
            </a:r>
            <a:r>
              <a:rPr sz="3200" b="1" u="sng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2</a:t>
            </a:r>
            <a:r>
              <a:rPr sz="3200" b="1" u="sng" spc="-110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 </a:t>
            </a:r>
            <a:r>
              <a:rPr sz="3200" b="1" u="sng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Element</a:t>
            </a:r>
            <a:r>
              <a:rPr sz="3200" b="1" u="sng" spc="-80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 </a:t>
            </a:r>
            <a:r>
              <a:rPr sz="3200" b="1" u="sng" spc="-10" dirty="0">
                <a:uFill>
                  <a:solidFill>
                    <a:srgbClr val="000000"/>
                  </a:solidFill>
                </a:uFill>
                <a:latin typeface="Ebrima"/>
                <a:cs typeface="Ebrima"/>
              </a:rPr>
              <a:t>type:</a:t>
            </a:r>
            <a:endParaRPr sz="3200" dirty="0">
              <a:latin typeface="Ebrima"/>
              <a:cs typeface="Ebrima"/>
            </a:endParaRPr>
          </a:p>
          <a:p>
            <a:pPr marL="526415" indent="-513715">
              <a:lnSpc>
                <a:spcPct val="100000"/>
              </a:lnSpc>
              <a:spcBef>
                <a:spcPts val="705"/>
              </a:spcBef>
              <a:buClr>
                <a:srgbClr val="DA1F28"/>
              </a:buClr>
              <a:buSzPct val="59375"/>
              <a:buAutoNum type="arabicPeriod"/>
              <a:tabLst>
                <a:tab pos="526415" algn="l"/>
              </a:tabLst>
            </a:pPr>
            <a:r>
              <a:rPr sz="3200" b="1" dirty="0">
                <a:solidFill>
                  <a:srgbClr val="0F5666"/>
                </a:solidFill>
                <a:latin typeface="Ebrima"/>
                <a:cs typeface="Ebrima"/>
              </a:rPr>
              <a:t>BLOCK</a:t>
            </a:r>
            <a:r>
              <a:rPr sz="3200" b="1" spc="-100" dirty="0">
                <a:solidFill>
                  <a:srgbClr val="0F5666"/>
                </a:solidFill>
                <a:latin typeface="Ebrima"/>
                <a:cs typeface="Ebrima"/>
              </a:rPr>
              <a:t> </a:t>
            </a:r>
            <a:r>
              <a:rPr sz="3200" b="1" spc="-10" dirty="0">
                <a:solidFill>
                  <a:srgbClr val="0F5666"/>
                </a:solidFill>
                <a:latin typeface="Ebrima"/>
                <a:cs typeface="Ebrima"/>
              </a:rPr>
              <a:t>ELEMENT.</a:t>
            </a:r>
            <a:endParaRPr sz="3200" dirty="0">
              <a:latin typeface="Ebrima"/>
              <a:cs typeface="Ebrima"/>
            </a:endParaRPr>
          </a:p>
          <a:p>
            <a:pPr marL="526415" indent="-513715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59375"/>
              <a:buAutoNum type="arabicPeriod"/>
              <a:tabLst>
                <a:tab pos="526415" algn="l"/>
              </a:tabLst>
            </a:pPr>
            <a:r>
              <a:rPr sz="3200" b="1" dirty="0">
                <a:solidFill>
                  <a:srgbClr val="0F5666"/>
                </a:solidFill>
                <a:latin typeface="Ebrima"/>
                <a:cs typeface="Ebrima"/>
              </a:rPr>
              <a:t>INLINE</a:t>
            </a:r>
            <a:r>
              <a:rPr sz="3200" b="1" spc="-30" dirty="0">
                <a:solidFill>
                  <a:srgbClr val="0F5666"/>
                </a:solidFill>
                <a:latin typeface="Ebrima"/>
                <a:cs typeface="Ebrima"/>
              </a:rPr>
              <a:t> </a:t>
            </a:r>
            <a:r>
              <a:rPr sz="3200" b="1" spc="-10" dirty="0">
                <a:solidFill>
                  <a:srgbClr val="0F5666"/>
                </a:solidFill>
                <a:latin typeface="Ebrima"/>
                <a:cs typeface="Ebrima"/>
              </a:rPr>
              <a:t>ELEMENET.</a:t>
            </a:r>
            <a:endParaRPr sz="3200" dirty="0">
              <a:latin typeface="Ebrima"/>
              <a:cs typeface="Ebrima"/>
            </a:endParaRPr>
          </a:p>
          <a:p>
            <a:pPr marL="527050">
              <a:lnSpc>
                <a:spcPct val="100000"/>
              </a:lnSpc>
              <a:spcBef>
                <a:spcPts val="705"/>
              </a:spcBef>
            </a:pPr>
            <a:r>
              <a:rPr sz="3200" b="1" dirty="0">
                <a:latin typeface="Ebrima"/>
                <a:cs typeface="Ebrima"/>
              </a:rPr>
              <a:t>use</a:t>
            </a:r>
            <a:r>
              <a:rPr sz="3200" b="1" spc="-50" dirty="0">
                <a:latin typeface="Ebrima"/>
                <a:cs typeface="Ebrima"/>
              </a:rPr>
              <a:t> </a:t>
            </a:r>
            <a:r>
              <a:rPr sz="3200" b="1" dirty="0">
                <a:latin typeface="Ebrima"/>
                <a:cs typeface="Ebrima"/>
              </a:rPr>
              <a:t>Ex:</a:t>
            </a:r>
            <a:r>
              <a:rPr sz="3200" b="1" spc="-60" dirty="0">
                <a:latin typeface="Ebrima"/>
                <a:cs typeface="Ebrima"/>
              </a:rPr>
              <a:t> </a:t>
            </a:r>
            <a:r>
              <a:rPr sz="3200" b="1" dirty="0">
                <a:solidFill>
                  <a:srgbClr val="21798F"/>
                </a:solidFill>
                <a:latin typeface="Ebrima"/>
                <a:cs typeface="Ebrima"/>
              </a:rPr>
              <a:t>display:</a:t>
            </a:r>
            <a:r>
              <a:rPr sz="3200" b="1" spc="-40" dirty="0">
                <a:solidFill>
                  <a:srgbClr val="21798F"/>
                </a:solidFill>
                <a:latin typeface="Ebrima"/>
                <a:cs typeface="Ebrima"/>
              </a:rPr>
              <a:t> </a:t>
            </a:r>
            <a:r>
              <a:rPr sz="3200" b="1" dirty="0">
                <a:solidFill>
                  <a:srgbClr val="21798F"/>
                </a:solidFill>
                <a:latin typeface="Ebrima"/>
                <a:cs typeface="Ebrima"/>
              </a:rPr>
              <a:t>block</a:t>
            </a:r>
            <a:r>
              <a:rPr sz="3200" b="1" spc="-45" dirty="0">
                <a:solidFill>
                  <a:srgbClr val="21798F"/>
                </a:solidFill>
                <a:latin typeface="Ebrima"/>
                <a:cs typeface="Ebrima"/>
              </a:rPr>
              <a:t> </a:t>
            </a:r>
            <a:r>
              <a:rPr sz="3200" b="1" dirty="0">
                <a:solidFill>
                  <a:srgbClr val="21798F"/>
                </a:solidFill>
                <a:latin typeface="Ebrima"/>
                <a:cs typeface="Ebrima"/>
              </a:rPr>
              <a:t>|</a:t>
            </a:r>
            <a:r>
              <a:rPr sz="3200" b="1" spc="-55" dirty="0">
                <a:solidFill>
                  <a:srgbClr val="21798F"/>
                </a:solidFill>
                <a:latin typeface="Ebrima"/>
                <a:cs typeface="Ebrima"/>
              </a:rPr>
              <a:t> </a:t>
            </a:r>
            <a:r>
              <a:rPr sz="3200" b="1" dirty="0">
                <a:solidFill>
                  <a:srgbClr val="21798F"/>
                </a:solidFill>
                <a:latin typeface="Ebrima"/>
                <a:cs typeface="Ebrima"/>
              </a:rPr>
              <a:t>inline</a:t>
            </a:r>
            <a:r>
              <a:rPr sz="3200" b="1" spc="-35" dirty="0">
                <a:solidFill>
                  <a:srgbClr val="21798F"/>
                </a:solidFill>
                <a:latin typeface="Ebrima"/>
                <a:cs typeface="Ebrima"/>
              </a:rPr>
              <a:t> </a:t>
            </a:r>
            <a:r>
              <a:rPr sz="3200" b="1" dirty="0">
                <a:solidFill>
                  <a:srgbClr val="21798F"/>
                </a:solidFill>
                <a:latin typeface="Ebrima"/>
                <a:cs typeface="Ebrima"/>
              </a:rPr>
              <a:t>|</a:t>
            </a:r>
            <a:r>
              <a:rPr sz="3200" b="1" spc="-55" dirty="0">
                <a:solidFill>
                  <a:srgbClr val="21798F"/>
                </a:solidFill>
                <a:latin typeface="Ebrima"/>
                <a:cs typeface="Ebrima"/>
              </a:rPr>
              <a:t> </a:t>
            </a:r>
            <a:r>
              <a:rPr sz="3200" b="1" spc="-10" dirty="0">
                <a:solidFill>
                  <a:srgbClr val="21798F"/>
                </a:solidFill>
                <a:latin typeface="Ebrima"/>
                <a:cs typeface="Ebrima"/>
              </a:rPr>
              <a:t>none;</a:t>
            </a:r>
            <a:endParaRPr sz="3200" dirty="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1876" rIns="0" bIns="0" rtlCol="0">
            <a:spAutoFit/>
          </a:bodyPr>
          <a:lstStyle/>
          <a:p>
            <a:pPr marL="1638300">
              <a:lnSpc>
                <a:spcPct val="100000"/>
              </a:lnSpc>
              <a:spcBef>
                <a:spcPts val="100"/>
              </a:spcBef>
            </a:pPr>
            <a:r>
              <a:rPr spc="-400" dirty="0"/>
              <a:t>Practice!</a:t>
            </a:r>
            <a:r>
              <a:rPr spc="-35" dirty="0"/>
              <a:t> </a:t>
            </a:r>
            <a:r>
              <a:rPr spc="-400" dirty="0"/>
              <a:t>Practice!</a:t>
            </a:r>
            <a:r>
              <a:rPr spc="-35" dirty="0"/>
              <a:t> </a:t>
            </a:r>
            <a:r>
              <a:rPr spc="-430" dirty="0"/>
              <a:t>Practice!!!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4200" y="1504950"/>
            <a:ext cx="3246120" cy="333222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819150"/>
            <a:ext cx="8153400" cy="432435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905000" y="4938316"/>
            <a:ext cx="4761865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575"/>
              </a:lnSpc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M</a:t>
            </a:r>
            <a:r>
              <a:rPr lang="en-US" sz="1400" dirty="0">
                <a:solidFill>
                  <a:srgbClr val="464646"/>
                </a:solidFill>
                <a:latin typeface="Arial MT"/>
                <a:cs typeface="Arial MT"/>
              </a:rPr>
              <a:t>ehedi Alam</a:t>
            </a:r>
            <a:r>
              <a:rPr sz="1400" spc="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lang="en-US" sz="1400" dirty="0">
                <a:solidFill>
                  <a:srgbClr val="464646"/>
                </a:solidFill>
                <a:latin typeface="Arial MT"/>
                <a:cs typeface="Arial MT"/>
              </a:rPr>
              <a:t>–</a:t>
            </a:r>
            <a:r>
              <a:rPr sz="1400" spc="-3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lang="en-US" sz="1400" spc="-90" dirty="0">
                <a:solidFill>
                  <a:srgbClr val="0000FF"/>
                </a:solidFill>
                <a:latin typeface="Arial MT"/>
                <a:cs typeface="Arial MT"/>
              </a:rPr>
              <a:t>mehedialam806@gmail.com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lang="en-US" sz="1400" dirty="0">
                <a:solidFill>
                  <a:srgbClr val="464646"/>
                </a:solidFill>
                <a:latin typeface="Arial MT"/>
                <a:cs typeface="Arial MT"/>
              </a:rPr>
              <a:t>- Asset</a:t>
            </a:r>
            <a:endParaRPr sz="1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101</TotalTime>
  <Words>368</Words>
  <Application>Microsoft Office PowerPoint</Application>
  <PresentationFormat>On-screen Show (16:9)</PresentationFormat>
  <Paragraphs>53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MT</vt:lpstr>
      <vt:lpstr>Ebrima</vt:lpstr>
      <vt:lpstr>Times New Roman</vt:lpstr>
      <vt:lpstr>Office Theme</vt:lpstr>
      <vt:lpstr>Welcome to</vt:lpstr>
      <vt:lpstr>CSS (Cascading Style Sheets)</vt:lpstr>
      <vt:lpstr>CSS (Cascading Style Sheets)</vt:lpstr>
      <vt:lpstr>CSS (Cascading Style Sheets)</vt:lpstr>
      <vt:lpstr>CSS (Cascading Style Sheets)</vt:lpstr>
      <vt:lpstr>CSS (Cascading Style Sheets)</vt:lpstr>
      <vt:lpstr>CSS (Cascading Style Sheets)</vt:lpstr>
      <vt:lpstr>CSS (Cascading Style Sheets)</vt:lpstr>
      <vt:lpstr>CSS (Cascading Style Sheets)</vt:lpstr>
      <vt:lpstr>CSS (Cascading Style Sheets)</vt:lpstr>
      <vt:lpstr>Practice! Practice! Practice!!!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</dc:title>
  <dc:creator>Web Design</dc:creator>
  <cp:lastModifiedBy>Turnago 1</cp:lastModifiedBy>
  <cp:revision>26</cp:revision>
  <dcterms:created xsi:type="dcterms:W3CDTF">2025-09-30T15:35:31Z</dcterms:created>
  <dcterms:modified xsi:type="dcterms:W3CDTF">2026-02-24T11:09:20Z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2022-10-17T00:00:00Z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2025-09-30T00:00:00Z</vt:filetime>
  </property>
  <property fmtid="{D5CDD505-2E9C-101B-9397-08002B2CF9AE}" pid="5" name="Producer">
    <vt:lpwstr>Microsoft® PowerPoint® 2013</vt:lpwstr>
  </property>
</Properties>
</file>