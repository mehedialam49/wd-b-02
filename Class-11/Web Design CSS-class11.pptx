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71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475" r:id="rId12"/>
    <p:sldId id="47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480" y="395223"/>
            <a:ext cx="7280275" cy="682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81326" y="3200145"/>
            <a:ext cx="4029075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94994"/>
            <a:ext cx="9144000" cy="240029"/>
          </a:xfrm>
          <a:custGeom>
            <a:avLst/>
            <a:gdLst/>
            <a:ahLst/>
            <a:cxnLst/>
            <a:rect l="l" t="t" r="r" b="b"/>
            <a:pathLst>
              <a:path w="9144000" h="240030">
                <a:moveTo>
                  <a:pt x="9144000" y="0"/>
                </a:moveTo>
                <a:lnTo>
                  <a:pt x="0" y="0"/>
                </a:lnTo>
                <a:lnTo>
                  <a:pt x="0" y="240029"/>
                </a:lnTo>
                <a:lnTo>
                  <a:pt x="9144000" y="24002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29283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533400" y="0"/>
                </a:moveTo>
                <a:lnTo>
                  <a:pt x="0" y="0"/>
                </a:lnTo>
                <a:lnTo>
                  <a:pt x="0" y="171450"/>
                </a:lnTo>
                <a:lnTo>
                  <a:pt x="533400" y="17145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0550" y="1129283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8553450" y="0"/>
                </a:moveTo>
                <a:lnTo>
                  <a:pt x="0" y="0"/>
                </a:lnTo>
                <a:lnTo>
                  <a:pt x="0" y="171450"/>
                </a:lnTo>
                <a:lnTo>
                  <a:pt x="8553450" y="171450"/>
                </a:lnTo>
                <a:lnTo>
                  <a:pt x="855345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20142"/>
            <a:ext cx="8848090" cy="1212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38100" y="1122933"/>
            <a:ext cx="9068053" cy="3747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src(&#8220;URL/SOURCE&#8221;)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94994"/>
              <a:ext cx="9144000" cy="240029"/>
            </a:xfrm>
            <a:custGeom>
              <a:avLst/>
              <a:gdLst/>
              <a:ahLst/>
              <a:cxnLst/>
              <a:rect l="l" t="t" r="r" b="b"/>
              <a:pathLst>
                <a:path w="9144000" h="240030">
                  <a:moveTo>
                    <a:pt x="9144000" y="0"/>
                  </a:moveTo>
                  <a:lnTo>
                    <a:pt x="0" y="0"/>
                  </a:lnTo>
                  <a:lnTo>
                    <a:pt x="0" y="240029"/>
                  </a:lnTo>
                  <a:lnTo>
                    <a:pt x="9144000" y="2400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29283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4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533400" y="1714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50" y="1129283"/>
              <a:ext cx="8553450" cy="171450"/>
            </a:xfrm>
            <a:custGeom>
              <a:avLst/>
              <a:gdLst/>
              <a:ahLst/>
              <a:cxnLst/>
              <a:rect l="l" t="t" r="r" b="b"/>
              <a:pathLst>
                <a:path w="8553450" h="171450">
                  <a:moveTo>
                    <a:pt x="8553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8553450" y="17145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4478273"/>
            <a:ext cx="9144000" cy="665480"/>
            <a:chOff x="0" y="4478273"/>
            <a:chExt cx="9144000" cy="665480"/>
          </a:xfrm>
        </p:grpSpPr>
        <p:sp>
          <p:nvSpPr>
            <p:cNvPr id="8" name="object 8"/>
            <p:cNvSpPr/>
            <p:nvPr/>
          </p:nvSpPr>
          <p:spPr>
            <a:xfrm>
              <a:off x="0" y="4478273"/>
              <a:ext cx="9144000" cy="665480"/>
            </a:xfrm>
            <a:custGeom>
              <a:avLst/>
              <a:gdLst/>
              <a:ahLst/>
              <a:cxnLst/>
              <a:rect l="l" t="t" r="r" b="b"/>
              <a:pathLst>
                <a:path w="9144000" h="665479">
                  <a:moveTo>
                    <a:pt x="9144000" y="0"/>
                  </a:moveTo>
                  <a:lnTo>
                    <a:pt x="0" y="0"/>
                  </a:lnTo>
                  <a:lnTo>
                    <a:pt x="0" y="665226"/>
                  </a:lnTo>
                  <a:lnTo>
                    <a:pt x="9144000" y="6652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39995"/>
              <a:ext cx="2240280" cy="535305"/>
            </a:xfrm>
            <a:custGeom>
              <a:avLst/>
              <a:gdLst/>
              <a:ahLst/>
              <a:cxnLst/>
              <a:rect l="l" t="t" r="r" b="b"/>
              <a:pathLst>
                <a:path w="2240280" h="535304">
                  <a:moveTo>
                    <a:pt x="2240280" y="0"/>
                  </a:moveTo>
                  <a:lnTo>
                    <a:pt x="0" y="0"/>
                  </a:lnTo>
                  <a:lnTo>
                    <a:pt x="0" y="534923"/>
                  </a:lnTo>
                  <a:lnTo>
                    <a:pt x="2240280" y="534923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9151" y="4533137"/>
              <a:ext cx="6784975" cy="535305"/>
            </a:xfrm>
            <a:custGeom>
              <a:avLst/>
              <a:gdLst/>
              <a:ahLst/>
              <a:cxnLst/>
              <a:rect l="l" t="t" r="r" b="b"/>
              <a:pathLst>
                <a:path w="6784975" h="535304">
                  <a:moveTo>
                    <a:pt x="678484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6784848" y="534924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38600" y="4538217"/>
            <a:ext cx="31929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5" dirty="0">
                <a:solidFill>
                  <a:srgbClr val="FFFFFF"/>
                </a:solidFill>
                <a:latin typeface="Arial MT"/>
                <a:cs typeface="Arial MT"/>
              </a:rPr>
              <a:t>Saturday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Thursday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00" y="1518919"/>
            <a:ext cx="8458200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39629D"/>
                </a:solidFill>
                <a:latin typeface="Arial"/>
                <a:cs typeface="Arial"/>
              </a:rPr>
              <a:t>WEB </a:t>
            </a:r>
            <a:r>
              <a:rPr sz="5400" b="1" spc="-10" dirty="0">
                <a:solidFill>
                  <a:srgbClr val="39629D"/>
                </a:solidFill>
                <a:latin typeface="Arial"/>
                <a:cs typeface="Arial"/>
              </a:rPr>
              <a:t>DESIGN</a:t>
            </a: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AND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DEVELOPMENT 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046480" y="395223"/>
            <a:ext cx="7280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algn="ctr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Welcome</a:t>
            </a:r>
            <a:r>
              <a:rPr sz="3600" b="0" spc="-4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to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8779" y="1294384"/>
            <a:ext cx="8619490" cy="331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7335" algn="ctr">
              <a:lnSpc>
                <a:spcPct val="100000"/>
              </a:lnSpc>
              <a:spcBef>
                <a:spcPts val="100"/>
              </a:spcBef>
            </a:pPr>
            <a:r>
              <a:rPr sz="2800" b="1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TYPOGRAPHY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51600"/>
              </a:lnSpc>
              <a:spcBef>
                <a:spcPts val="715"/>
              </a:spcBef>
            </a:pPr>
            <a:r>
              <a:rPr sz="2400" spc="-10" dirty="0">
                <a:latin typeface="Arial MT"/>
                <a:cs typeface="Arial MT"/>
              </a:rPr>
              <a:t>Typography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arranging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make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legible,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readable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appealing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when </a:t>
            </a:r>
            <a:r>
              <a:rPr sz="2400" dirty="0">
                <a:latin typeface="Arial MT"/>
                <a:cs typeface="Arial MT"/>
              </a:rPr>
              <a:t>displayed.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arrangement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selecting </a:t>
            </a:r>
            <a:r>
              <a:rPr sz="2400" dirty="0">
                <a:latin typeface="Arial MT"/>
                <a:cs typeface="Arial MT"/>
              </a:rPr>
              <a:t>typefaces,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line-</a:t>
            </a:r>
            <a:r>
              <a:rPr sz="2400" dirty="0">
                <a:latin typeface="Arial MT"/>
                <a:cs typeface="Arial MT"/>
              </a:rPr>
              <a:t>spacing,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letter- </a:t>
            </a:r>
            <a:r>
              <a:rPr sz="2400" dirty="0">
                <a:latin typeface="Arial MT"/>
                <a:cs typeface="Arial MT"/>
              </a:rPr>
              <a:t>spacing,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adjusting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letters.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2486"/>
            <a:ext cx="8756015" cy="346456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26060" algn="ctr">
              <a:lnSpc>
                <a:spcPct val="100000"/>
              </a:lnSpc>
              <a:spcBef>
                <a:spcPts val="825"/>
              </a:spcBef>
            </a:pPr>
            <a:r>
              <a:rPr sz="2800" b="1" u="sng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FORMATTING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7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|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TYPOGRAPHY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800" dirty="0">
                <a:latin typeface="Ebrima"/>
                <a:cs typeface="Ebrima"/>
              </a:rPr>
              <a:t>Text </a:t>
            </a:r>
            <a:r>
              <a:rPr sz="2800" spc="-10" dirty="0">
                <a:latin typeface="Ebrima"/>
                <a:cs typeface="Ebrima"/>
              </a:rPr>
              <a:t>color-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10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color:</a:t>
            </a:r>
            <a:r>
              <a:rPr sz="2800" spc="-10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blue</a:t>
            </a:r>
            <a:r>
              <a:rPr sz="2800" spc="-10" dirty="0">
                <a:latin typeface="Ebrima"/>
                <a:cs typeface="Ebrima"/>
              </a:rPr>
              <a:t>;</a:t>
            </a:r>
            <a:endParaRPr sz="2800">
              <a:latin typeface="Ebrima"/>
              <a:cs typeface="Ebrima"/>
            </a:endParaRPr>
          </a:p>
          <a:p>
            <a:pPr marL="12700" marR="5080">
              <a:lnSpc>
                <a:spcPct val="120700"/>
              </a:lnSpc>
              <a:spcBef>
                <a:spcPts val="10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Alignment-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text-</a:t>
            </a:r>
            <a:r>
              <a:rPr sz="2800" dirty="0">
                <a:latin typeface="Ebrima"/>
                <a:cs typeface="Ebrima"/>
              </a:rPr>
              <a:t>align: </a:t>
            </a:r>
            <a:r>
              <a:rPr sz="2800" b="1" dirty="0">
                <a:latin typeface="Ebrima"/>
                <a:cs typeface="Ebrima"/>
              </a:rPr>
              <a:t>center</a:t>
            </a:r>
            <a:r>
              <a:rPr sz="2800" b="1" spc="-15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 </a:t>
            </a:r>
            <a:r>
              <a:rPr sz="2800" b="1" dirty="0">
                <a:latin typeface="Ebrima"/>
                <a:cs typeface="Ebrima"/>
              </a:rPr>
              <a:t>left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-10" dirty="0">
                <a:latin typeface="Ebrima"/>
                <a:cs typeface="Ebrima"/>
              </a:rPr>
              <a:t> </a:t>
            </a:r>
            <a:r>
              <a:rPr sz="2800" b="1" dirty="0">
                <a:latin typeface="Ebrima"/>
                <a:cs typeface="Ebrima"/>
              </a:rPr>
              <a:t>right</a:t>
            </a:r>
            <a:r>
              <a:rPr sz="2800" b="1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|</a:t>
            </a:r>
            <a:r>
              <a:rPr sz="2800" b="1" spc="-10" dirty="0">
                <a:latin typeface="Ebrima"/>
                <a:cs typeface="Ebrima"/>
              </a:rPr>
              <a:t>justify</a:t>
            </a:r>
            <a:r>
              <a:rPr sz="2800" spc="-10" dirty="0">
                <a:latin typeface="Ebrima"/>
                <a:cs typeface="Ebrima"/>
              </a:rPr>
              <a:t>; Text-Decoration-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text-</a:t>
            </a:r>
            <a:r>
              <a:rPr sz="2800" dirty="0">
                <a:latin typeface="Ebrima"/>
                <a:cs typeface="Ebrima"/>
              </a:rPr>
              <a:t>decoration:</a:t>
            </a:r>
            <a:r>
              <a:rPr sz="2800" spc="5" dirty="0">
                <a:latin typeface="Ebrima"/>
                <a:cs typeface="Ebrima"/>
              </a:rPr>
              <a:t> </a:t>
            </a:r>
            <a:r>
              <a:rPr sz="2800" b="1" dirty="0">
                <a:latin typeface="Ebrima"/>
                <a:cs typeface="Ebrima"/>
              </a:rPr>
              <a:t>none</a:t>
            </a:r>
            <a:r>
              <a:rPr sz="2800" b="1" spc="10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20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overline</a:t>
            </a:r>
            <a:endParaRPr sz="28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800" spc="-20" dirty="0">
                <a:latin typeface="Ebrima"/>
                <a:cs typeface="Ebrima"/>
              </a:rPr>
              <a:t>|</a:t>
            </a:r>
            <a:r>
              <a:rPr sz="2800" b="1" spc="-20" dirty="0">
                <a:latin typeface="Ebrima"/>
                <a:cs typeface="Ebrima"/>
              </a:rPr>
              <a:t>line-</a:t>
            </a:r>
            <a:r>
              <a:rPr sz="2800" b="1" dirty="0">
                <a:latin typeface="Ebrima"/>
                <a:cs typeface="Ebrima"/>
              </a:rPr>
              <a:t>through</a:t>
            </a:r>
            <a:r>
              <a:rPr sz="2800" b="1" spc="-50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-50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underline;</a:t>
            </a:r>
            <a:endParaRPr sz="28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10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Transformation-</a:t>
            </a:r>
            <a:r>
              <a:rPr sz="2800" dirty="0">
                <a:latin typeface="Ebrima"/>
                <a:cs typeface="Ebrima"/>
              </a:rPr>
              <a:t>&gt; </a:t>
            </a:r>
            <a:r>
              <a:rPr sz="2800" spc="-10" dirty="0">
                <a:latin typeface="Ebrima"/>
                <a:cs typeface="Ebrima"/>
              </a:rPr>
              <a:t>text-</a:t>
            </a:r>
            <a:r>
              <a:rPr sz="2800" dirty="0">
                <a:latin typeface="Ebrima"/>
                <a:cs typeface="Ebrima"/>
              </a:rPr>
              <a:t>transform:</a:t>
            </a:r>
            <a:r>
              <a:rPr sz="2800" spc="25" dirty="0">
                <a:latin typeface="Ebrima"/>
                <a:cs typeface="Ebrima"/>
              </a:rPr>
              <a:t> </a:t>
            </a:r>
            <a:r>
              <a:rPr sz="2800" b="1" dirty="0">
                <a:latin typeface="Ebrima"/>
                <a:cs typeface="Ebrima"/>
              </a:rPr>
              <a:t>uppercase</a:t>
            </a:r>
            <a:r>
              <a:rPr sz="2800" b="1" spc="15" dirty="0">
                <a:latin typeface="Ebrima"/>
                <a:cs typeface="Ebrima"/>
              </a:rPr>
              <a:t> </a:t>
            </a:r>
            <a:r>
              <a:rPr sz="2800" spc="-50" dirty="0">
                <a:latin typeface="Ebrima"/>
                <a:cs typeface="Ebrima"/>
              </a:rPr>
              <a:t>|</a:t>
            </a:r>
            <a:endParaRPr sz="28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Ebrima"/>
                <a:cs typeface="Ebrima"/>
              </a:rPr>
              <a:t>lowercase</a:t>
            </a:r>
            <a:r>
              <a:rPr sz="2800" b="1" spc="-65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-7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capitalize;</a:t>
            </a:r>
            <a:endParaRPr sz="28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2486"/>
            <a:ext cx="7545070" cy="312674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928620">
              <a:lnSpc>
                <a:spcPct val="100000"/>
              </a:lnSpc>
              <a:spcBef>
                <a:spcPts val="825"/>
              </a:spcBef>
            </a:pPr>
            <a:r>
              <a:rPr sz="2800" b="1" u="sng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r>
              <a:rPr sz="2800" b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FORMATTING</a:t>
            </a:r>
            <a:endParaRPr sz="2800">
              <a:latin typeface="Times New Roman"/>
              <a:cs typeface="Times New Roman"/>
            </a:endParaRPr>
          </a:p>
          <a:p>
            <a:pPr marL="12700" marR="1424940" algn="just">
              <a:lnSpc>
                <a:spcPct val="120800"/>
              </a:lnSpc>
              <a:spcBef>
                <a:spcPts val="25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-2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Indentation-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text-</a:t>
            </a:r>
            <a:r>
              <a:rPr sz="2800" b="1" dirty="0">
                <a:latin typeface="Ebrima"/>
                <a:cs typeface="Ebrima"/>
              </a:rPr>
              <a:t>indent:</a:t>
            </a:r>
            <a:r>
              <a:rPr sz="2800" b="1" spc="-1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50px; </a:t>
            </a:r>
            <a:r>
              <a:rPr sz="2800" dirty="0">
                <a:latin typeface="Ebrima"/>
                <a:cs typeface="Ebrima"/>
              </a:rPr>
              <a:t>Letter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Spacing-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20" dirty="0">
                <a:latin typeface="Ebrima"/>
                <a:cs typeface="Ebrima"/>
              </a:rPr>
              <a:t> </a:t>
            </a:r>
            <a:r>
              <a:rPr sz="2800" b="1" spc="-10" dirty="0">
                <a:solidFill>
                  <a:srgbClr val="21798F"/>
                </a:solidFill>
                <a:latin typeface="Ebrima"/>
                <a:cs typeface="Ebrima"/>
              </a:rPr>
              <a:t>letter-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spacing:</a:t>
            </a:r>
            <a:r>
              <a:rPr sz="2800" b="1" spc="1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spc="-20" dirty="0">
                <a:solidFill>
                  <a:srgbClr val="21798F"/>
                </a:solidFill>
                <a:latin typeface="Ebrima"/>
                <a:cs typeface="Ebrima"/>
              </a:rPr>
              <a:t>3px; </a:t>
            </a:r>
            <a:r>
              <a:rPr sz="2800" dirty="0">
                <a:latin typeface="Ebrima"/>
                <a:cs typeface="Ebrima"/>
              </a:rPr>
              <a:t>Word</a:t>
            </a:r>
            <a:r>
              <a:rPr sz="2800" spc="-20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Spacing-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25" dirty="0">
                <a:latin typeface="Ebrima"/>
                <a:cs typeface="Ebrima"/>
              </a:rPr>
              <a:t> </a:t>
            </a:r>
            <a:r>
              <a:rPr sz="2800" b="1" spc="-25" dirty="0">
                <a:latin typeface="Ebrima"/>
                <a:cs typeface="Ebrima"/>
              </a:rPr>
              <a:t>word-</a:t>
            </a:r>
            <a:r>
              <a:rPr sz="2800" b="1" dirty="0">
                <a:latin typeface="Ebrima"/>
                <a:cs typeface="Ebrima"/>
              </a:rPr>
              <a:t>spacing:</a:t>
            </a:r>
            <a:r>
              <a:rPr sz="2800" b="1" spc="3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10px;</a:t>
            </a:r>
            <a:endParaRPr sz="2800">
              <a:latin typeface="Ebrima"/>
              <a:cs typeface="Ebrima"/>
            </a:endParaRPr>
          </a:p>
          <a:p>
            <a:pPr marL="12700" algn="just">
              <a:lnSpc>
                <a:spcPct val="100000"/>
              </a:lnSpc>
              <a:spcBef>
                <a:spcPts val="705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-4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Shadow-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50" dirty="0">
                <a:latin typeface="Ebrima"/>
                <a:cs typeface="Ebrima"/>
              </a:rPr>
              <a:t> </a:t>
            </a:r>
            <a:r>
              <a:rPr sz="2800" b="1" spc="-10" dirty="0">
                <a:solidFill>
                  <a:srgbClr val="21798F"/>
                </a:solidFill>
                <a:latin typeface="Ebrima"/>
                <a:cs typeface="Ebrima"/>
              </a:rPr>
              <a:t>text-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shadow:</a:t>
            </a:r>
            <a:r>
              <a:rPr sz="2800" b="1" spc="-2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3px</a:t>
            </a:r>
            <a:r>
              <a:rPr sz="2800" b="1" spc="-4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2px</a:t>
            </a:r>
            <a:r>
              <a:rPr sz="2800" b="1" spc="-4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3px</a:t>
            </a:r>
            <a:r>
              <a:rPr sz="2800" b="1" spc="-4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spc="-20" dirty="0">
                <a:solidFill>
                  <a:srgbClr val="21798F"/>
                </a:solidFill>
                <a:latin typeface="Ebrima"/>
                <a:cs typeface="Ebrima"/>
              </a:rPr>
              <a:t>red;</a:t>
            </a:r>
            <a:endParaRPr sz="2800">
              <a:latin typeface="Ebrima"/>
              <a:cs typeface="Ebrima"/>
            </a:endParaRPr>
          </a:p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Ebrima"/>
                <a:cs typeface="Ebrima"/>
              </a:rPr>
              <a:t>Line</a:t>
            </a:r>
            <a:r>
              <a:rPr sz="2800" spc="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Height-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10" dirty="0">
                <a:latin typeface="Ebrima"/>
                <a:cs typeface="Ebrima"/>
              </a:rPr>
              <a:t> </a:t>
            </a:r>
            <a:r>
              <a:rPr sz="2800" b="1" spc="-20" dirty="0">
                <a:latin typeface="Ebrima"/>
                <a:cs typeface="Ebrima"/>
              </a:rPr>
              <a:t>line-</a:t>
            </a:r>
            <a:r>
              <a:rPr sz="2800" b="1" dirty="0">
                <a:latin typeface="Ebrima"/>
                <a:cs typeface="Ebrima"/>
              </a:rPr>
              <a:t>height:</a:t>
            </a:r>
            <a:r>
              <a:rPr sz="2800" b="1" spc="30" dirty="0">
                <a:latin typeface="Ebrima"/>
                <a:cs typeface="Ebrima"/>
              </a:rPr>
              <a:t> </a:t>
            </a:r>
            <a:r>
              <a:rPr sz="2800" b="1" spc="-20" dirty="0">
                <a:latin typeface="Ebrima"/>
                <a:cs typeface="Ebrima"/>
              </a:rPr>
              <a:t>1.5;</a:t>
            </a:r>
            <a:endParaRPr sz="28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195852"/>
            <a:ext cx="5023485" cy="34709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75"/>
              </a:spcBef>
            </a:pPr>
            <a:r>
              <a:rPr sz="28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FONTS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700" spc="-20" dirty="0">
                <a:latin typeface="Ebrima"/>
                <a:cs typeface="Ebrima"/>
              </a:rPr>
              <a:t>@font-face{</a:t>
            </a:r>
            <a:endParaRPr sz="2700">
              <a:latin typeface="Ebrima"/>
              <a:cs typeface="Ebrima"/>
            </a:endParaRPr>
          </a:p>
          <a:p>
            <a:pPr marL="332740" marR="1153160">
              <a:lnSpc>
                <a:spcPts val="3940"/>
              </a:lnSpc>
              <a:spcBef>
                <a:spcPts val="245"/>
              </a:spcBef>
            </a:pPr>
            <a:r>
              <a:rPr sz="2700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Ebrima"/>
                <a:cs typeface="Ebrima"/>
                <a:hlinkClick r:id="rId2"/>
              </a:rPr>
              <a:t>src:</a:t>
            </a:r>
            <a:r>
              <a:rPr sz="2700" u="sng" spc="-4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Ebrima"/>
                <a:cs typeface="Ebrima"/>
                <a:hlinkClick r:id="rId2"/>
              </a:rPr>
              <a:t> </a:t>
            </a:r>
            <a:r>
              <a:rPr sz="2700" u="sng" spc="-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Ebrima"/>
                <a:cs typeface="Ebrima"/>
                <a:hlinkClick r:id="rId2"/>
              </a:rPr>
              <a:t>url(“URL/SOURCE”)</a:t>
            </a:r>
            <a:r>
              <a:rPr sz="2700" spc="-10" dirty="0">
                <a:latin typeface="Ebrima"/>
                <a:cs typeface="Ebrima"/>
              </a:rPr>
              <a:t>; </a:t>
            </a:r>
            <a:r>
              <a:rPr sz="2700" spc="-20" dirty="0">
                <a:latin typeface="Ebrima"/>
                <a:cs typeface="Ebrima"/>
              </a:rPr>
              <a:t>font-</a:t>
            </a:r>
            <a:r>
              <a:rPr sz="2700" dirty="0">
                <a:latin typeface="Ebrima"/>
                <a:cs typeface="Ebrima"/>
              </a:rPr>
              <a:t>family:</a:t>
            </a:r>
            <a:r>
              <a:rPr sz="2700" spc="-40" dirty="0">
                <a:latin typeface="Ebrima"/>
                <a:cs typeface="Ebrima"/>
              </a:rPr>
              <a:t> </a:t>
            </a:r>
            <a:r>
              <a:rPr sz="2700" spc="-10" dirty="0">
                <a:latin typeface="Ebrima"/>
                <a:cs typeface="Ebrima"/>
              </a:rPr>
              <a:t>myFont;</a:t>
            </a:r>
            <a:endParaRPr sz="27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700" spc="-50" dirty="0">
                <a:latin typeface="Ebrima"/>
                <a:cs typeface="Ebrima"/>
              </a:rPr>
              <a:t>}</a:t>
            </a:r>
            <a:endParaRPr sz="27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EX:</a:t>
            </a:r>
            <a:r>
              <a:rPr sz="2700" b="1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use</a:t>
            </a:r>
            <a:r>
              <a:rPr sz="2700" b="1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in</a:t>
            </a:r>
            <a:r>
              <a:rPr sz="2700" b="1" u="sng" spc="-2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p:</a:t>
            </a:r>
            <a:r>
              <a:rPr sz="2700" b="1" u="sng" spc="-1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spc="-25" dirty="0">
                <a:latin typeface="Ebrima"/>
                <a:cs typeface="Ebrima"/>
              </a:rPr>
              <a:t>p{</a:t>
            </a:r>
            <a:endParaRPr sz="2700">
              <a:latin typeface="Ebrima"/>
              <a:cs typeface="Ebrima"/>
            </a:endParaRPr>
          </a:p>
          <a:p>
            <a:pPr marL="707390">
              <a:lnSpc>
                <a:spcPct val="100000"/>
              </a:lnSpc>
              <a:spcBef>
                <a:spcPts val="15"/>
              </a:spcBef>
            </a:pPr>
            <a:r>
              <a:rPr sz="2700" spc="-20" dirty="0">
                <a:latin typeface="Ebrima"/>
                <a:cs typeface="Ebrima"/>
              </a:rPr>
              <a:t>font-</a:t>
            </a:r>
            <a:r>
              <a:rPr sz="2700" dirty="0">
                <a:latin typeface="Ebrima"/>
                <a:cs typeface="Ebrima"/>
              </a:rPr>
              <a:t>family:</a:t>
            </a:r>
            <a:r>
              <a:rPr sz="2700" spc="-55" dirty="0">
                <a:latin typeface="Ebrima"/>
                <a:cs typeface="Ebrima"/>
              </a:rPr>
              <a:t> </a:t>
            </a:r>
            <a:r>
              <a:rPr sz="2700" spc="-10" dirty="0">
                <a:latin typeface="Ebrima"/>
                <a:cs typeface="Ebrima"/>
              </a:rPr>
              <a:t>myFontName;</a:t>
            </a:r>
            <a:endParaRPr sz="270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779" y="4639309"/>
            <a:ext cx="1289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latin typeface="Ebrima"/>
                <a:cs typeface="Ebrima"/>
              </a:rPr>
              <a:t>}</a:t>
            </a:r>
            <a:endParaRPr sz="27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12804"/>
            <a:ext cx="8401685" cy="31838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82295" algn="ctr">
              <a:lnSpc>
                <a:spcPct val="100000"/>
              </a:lnSpc>
              <a:spcBef>
                <a:spcPts val="745"/>
              </a:spcBef>
            </a:pPr>
            <a:r>
              <a:rPr sz="28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FONTS</a:t>
            </a:r>
            <a:endParaRPr sz="2800">
              <a:latin typeface="Times New Roman"/>
              <a:cs typeface="Times New Roman"/>
            </a:endParaRPr>
          </a:p>
          <a:p>
            <a:pPr marL="332740" marR="15875" indent="-320040">
              <a:lnSpc>
                <a:spcPct val="100000"/>
              </a:lnSpc>
              <a:spcBef>
                <a:spcPts val="730"/>
              </a:spcBef>
            </a:pPr>
            <a:r>
              <a:rPr sz="3200" spc="-20" dirty="0">
                <a:latin typeface="Ebrima"/>
                <a:cs typeface="Ebrima"/>
              </a:rPr>
              <a:t>font-</a:t>
            </a:r>
            <a:r>
              <a:rPr sz="3200" dirty="0">
                <a:latin typeface="Ebrima"/>
                <a:cs typeface="Ebrima"/>
              </a:rPr>
              <a:t>size:</a:t>
            </a:r>
            <a:r>
              <a:rPr sz="3200" spc="125" dirty="0"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21798F"/>
                </a:solidFill>
                <a:latin typeface="Ebrima"/>
                <a:cs typeface="Ebrima"/>
              </a:rPr>
              <a:t>medium|xx-small|x-small|small|large|x- large|xx-large|smaller|larger|length|initial|inherit;</a:t>
            </a:r>
            <a:endParaRPr sz="30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3200" spc="-20" dirty="0">
                <a:latin typeface="Ebrima"/>
                <a:cs typeface="Ebrima"/>
              </a:rPr>
              <a:t>font-</a:t>
            </a:r>
            <a:r>
              <a:rPr sz="3200" dirty="0">
                <a:latin typeface="Ebrima"/>
                <a:cs typeface="Ebrima"/>
              </a:rPr>
              <a:t>style:</a:t>
            </a:r>
            <a:r>
              <a:rPr sz="3200" spc="-15" dirty="0"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Ebrima"/>
                <a:cs typeface="Ebrima"/>
              </a:rPr>
              <a:t>normal|italic|oblique|initial|inherit;</a:t>
            </a:r>
            <a:endParaRPr sz="30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200" spc="-20" dirty="0">
                <a:latin typeface="Ebrima"/>
                <a:cs typeface="Ebrima"/>
              </a:rPr>
              <a:t>font-</a:t>
            </a:r>
            <a:r>
              <a:rPr sz="3200" spc="-10" dirty="0">
                <a:latin typeface="Ebrima"/>
                <a:cs typeface="Ebrima"/>
              </a:rPr>
              <a:t>weight:</a:t>
            </a:r>
            <a:endParaRPr sz="32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  <a:spcBef>
                <a:spcPts val="10"/>
              </a:spcBef>
            </a:pPr>
            <a:r>
              <a:rPr sz="3000" spc="-10" dirty="0">
                <a:solidFill>
                  <a:srgbClr val="21798F"/>
                </a:solidFill>
                <a:latin typeface="Ebrima"/>
                <a:cs typeface="Ebrima"/>
              </a:rPr>
              <a:t>normal|bold|bolder|lighter|number|initial|inherit;</a:t>
            </a:r>
            <a:endParaRPr sz="30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26058"/>
            <a:ext cx="5196205" cy="24333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R="220345" algn="r">
              <a:lnSpc>
                <a:spcPct val="100000"/>
              </a:lnSpc>
              <a:spcBef>
                <a:spcPts val="640"/>
              </a:spcBef>
            </a:pPr>
            <a:r>
              <a:rPr sz="2800" b="1" u="sng" spc="-3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ICONS</a:t>
            </a:r>
            <a:endParaRPr sz="2800">
              <a:latin typeface="Times New Roman"/>
              <a:cs typeface="Times New Roman"/>
            </a:endParaRPr>
          </a:p>
          <a:p>
            <a:pPr marL="755015" indent="-742315">
              <a:lnSpc>
                <a:spcPct val="100000"/>
              </a:lnSpc>
              <a:spcBef>
                <a:spcPts val="690"/>
              </a:spcBef>
              <a:buClr>
                <a:srgbClr val="DA1F28"/>
              </a:buClr>
              <a:buSzPct val="59722"/>
              <a:buAutoNum type="arabicPeriod"/>
              <a:tabLst>
                <a:tab pos="755015" algn="l"/>
              </a:tabLst>
            </a:pP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Font</a:t>
            </a:r>
            <a:r>
              <a:rPr sz="3600" b="1" spc="-11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Awesome</a:t>
            </a:r>
            <a:r>
              <a:rPr sz="3600" b="1" spc="-105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spc="-10" dirty="0">
                <a:solidFill>
                  <a:srgbClr val="16515F"/>
                </a:solidFill>
                <a:latin typeface="Ebrima"/>
                <a:cs typeface="Ebrima"/>
              </a:rPr>
              <a:t>Icons</a:t>
            </a:r>
            <a:endParaRPr sz="3600">
              <a:latin typeface="Ebrima"/>
              <a:cs typeface="Ebrima"/>
            </a:endParaRPr>
          </a:p>
          <a:p>
            <a:pPr marL="755015" indent="-7423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722"/>
              <a:buAutoNum type="arabicPeriod"/>
              <a:tabLst>
                <a:tab pos="755015" algn="l"/>
              </a:tabLst>
            </a:pP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Bootstrap</a:t>
            </a:r>
            <a:r>
              <a:rPr sz="3600" b="1" spc="-20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spc="-10" dirty="0">
                <a:solidFill>
                  <a:srgbClr val="16515F"/>
                </a:solidFill>
                <a:latin typeface="Ebrima"/>
                <a:cs typeface="Ebrima"/>
              </a:rPr>
              <a:t>Icons</a:t>
            </a:r>
            <a:endParaRPr sz="3600">
              <a:latin typeface="Ebrima"/>
              <a:cs typeface="Ebrima"/>
            </a:endParaRPr>
          </a:p>
          <a:p>
            <a:pPr marL="755015" indent="-7423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722"/>
              <a:buAutoNum type="arabicPeriod"/>
              <a:tabLst>
                <a:tab pos="755015" algn="l"/>
              </a:tabLst>
            </a:pP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Remix</a:t>
            </a:r>
            <a:r>
              <a:rPr sz="3600" b="1" spc="-135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spc="-10" dirty="0">
                <a:solidFill>
                  <a:srgbClr val="16515F"/>
                </a:solidFill>
                <a:latin typeface="Ebrima"/>
                <a:cs typeface="Ebrima"/>
              </a:rPr>
              <a:t>Icons</a:t>
            </a:r>
            <a:endParaRPr sz="3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15473"/>
            <a:ext cx="8248650" cy="27228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735330" algn="ctr">
              <a:lnSpc>
                <a:spcPct val="100000"/>
              </a:lnSpc>
              <a:spcBef>
                <a:spcPts val="720"/>
              </a:spcBef>
            </a:pP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b="1" u="sng" spc="-3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UL/OL-</a:t>
            </a:r>
            <a:r>
              <a:rPr sz="3200" b="1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&gt;LI:</a:t>
            </a:r>
            <a:endParaRPr sz="3200">
              <a:latin typeface="Ebrima"/>
              <a:cs typeface="Ebrima"/>
            </a:endParaRPr>
          </a:p>
          <a:p>
            <a:pPr marL="527050" marR="5080" indent="-514350">
              <a:lnSpc>
                <a:spcPct val="100000"/>
              </a:lnSpc>
              <a:spcBef>
                <a:spcPts val="730"/>
              </a:spcBef>
            </a:pPr>
            <a:r>
              <a:rPr sz="3200" spc="-10" dirty="0">
                <a:latin typeface="Ebrima"/>
                <a:cs typeface="Ebrima"/>
              </a:rPr>
              <a:t>list-</a:t>
            </a:r>
            <a:r>
              <a:rPr sz="3200" spc="-20" dirty="0">
                <a:latin typeface="Ebrima"/>
                <a:cs typeface="Ebrima"/>
              </a:rPr>
              <a:t>style-</a:t>
            </a:r>
            <a:r>
              <a:rPr sz="3200" dirty="0">
                <a:latin typeface="Ebrima"/>
                <a:cs typeface="Ebrima"/>
              </a:rPr>
              <a:t>type:</a:t>
            </a:r>
            <a:r>
              <a:rPr sz="3200" spc="190" dirty="0"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0F5666"/>
                </a:solidFill>
                <a:latin typeface="Ebrima"/>
                <a:cs typeface="Ebrima"/>
              </a:rPr>
              <a:t>circle|square|upper-roman|lower- alpha;</a:t>
            </a:r>
            <a:endParaRPr sz="30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200" spc="-10" dirty="0">
                <a:latin typeface="Ebrima"/>
                <a:cs typeface="Ebrima"/>
              </a:rPr>
              <a:t>list-</a:t>
            </a:r>
            <a:r>
              <a:rPr sz="3200" spc="-20" dirty="0">
                <a:latin typeface="Ebrima"/>
                <a:cs typeface="Ebrima"/>
              </a:rPr>
              <a:t>style-</a:t>
            </a:r>
            <a:r>
              <a:rPr sz="3200" dirty="0">
                <a:latin typeface="Ebrima"/>
                <a:cs typeface="Ebrima"/>
              </a:rPr>
              <a:t>image:</a:t>
            </a:r>
            <a:r>
              <a:rPr sz="3200" spc="-5" dirty="0">
                <a:latin typeface="Ebrima"/>
                <a:cs typeface="Ebrima"/>
              </a:rPr>
              <a:t> </a:t>
            </a:r>
            <a:r>
              <a:rPr sz="3000" dirty="0">
                <a:solidFill>
                  <a:srgbClr val="0F5666"/>
                </a:solidFill>
                <a:latin typeface="Ebrima"/>
                <a:cs typeface="Ebrima"/>
              </a:rPr>
              <a:t>url(image</a:t>
            </a:r>
            <a:r>
              <a:rPr sz="3000" spc="-3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0F5666"/>
                </a:solidFill>
                <a:latin typeface="Ebrima"/>
                <a:cs typeface="Ebrima"/>
              </a:rPr>
              <a:t>link);</a:t>
            </a:r>
            <a:endParaRPr sz="30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23948" y="1228855"/>
            <a:ext cx="4897120" cy="270192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70"/>
              </a:spcBef>
            </a:pPr>
            <a:r>
              <a:rPr sz="4000" b="1" u="sng" spc="-4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ELEMENT</a:t>
            </a:r>
            <a:endParaRPr sz="4000">
              <a:latin typeface="Times New Roman"/>
              <a:cs typeface="Times New Roman"/>
            </a:endParaRPr>
          </a:p>
          <a:p>
            <a:pPr marL="12700" marR="5080" algn="ctr">
              <a:lnSpc>
                <a:spcPts val="7900"/>
              </a:lnSpc>
              <a:spcBef>
                <a:spcPts val="180"/>
              </a:spcBef>
            </a:pPr>
            <a:r>
              <a:rPr sz="6000" dirty="0">
                <a:latin typeface="Arial MT"/>
                <a:cs typeface="Arial MT"/>
              </a:rPr>
              <a:t>Block</a:t>
            </a:r>
            <a:r>
              <a:rPr sz="6000" spc="-150" dirty="0">
                <a:latin typeface="Arial MT"/>
                <a:cs typeface="Arial MT"/>
              </a:rPr>
              <a:t> </a:t>
            </a:r>
            <a:r>
              <a:rPr sz="6000" spc="-10" dirty="0">
                <a:latin typeface="Arial MT"/>
                <a:cs typeface="Arial MT"/>
              </a:rPr>
              <a:t>Element </a:t>
            </a:r>
            <a:r>
              <a:rPr sz="6000" dirty="0">
                <a:latin typeface="Arial MT"/>
                <a:cs typeface="Arial MT"/>
              </a:rPr>
              <a:t>Inline</a:t>
            </a:r>
            <a:r>
              <a:rPr sz="6000" spc="-25" dirty="0">
                <a:latin typeface="Arial MT"/>
                <a:cs typeface="Arial MT"/>
              </a:rPr>
              <a:t> </a:t>
            </a:r>
            <a:r>
              <a:rPr sz="6000" spc="-10" dirty="0">
                <a:latin typeface="Arial MT"/>
                <a:cs typeface="Arial MT"/>
              </a:rPr>
              <a:t>Element</a:t>
            </a:r>
            <a:endParaRPr sz="6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15473"/>
            <a:ext cx="8457565" cy="28397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526415" algn="ctr">
              <a:lnSpc>
                <a:spcPct val="100000"/>
              </a:lnSpc>
              <a:spcBef>
                <a:spcPts val="720"/>
              </a:spcBef>
            </a:pP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DISPLAY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Display</a:t>
            </a:r>
            <a:r>
              <a:rPr sz="3200" b="1" u="sng" spc="-8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Property</a:t>
            </a:r>
            <a:r>
              <a:rPr sz="3200" b="1" u="sng" spc="-8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depend</a:t>
            </a:r>
            <a:r>
              <a:rPr sz="3200" b="1" u="sng" spc="-7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on</a:t>
            </a:r>
            <a:r>
              <a:rPr sz="3200" b="1" u="sng" spc="-9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2</a:t>
            </a:r>
            <a:r>
              <a:rPr sz="3200" b="1" u="sng" spc="-1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Element</a:t>
            </a:r>
            <a:r>
              <a:rPr sz="3200" b="1" u="sng" spc="-8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type:</a:t>
            </a:r>
            <a:endParaRPr sz="32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b="1" dirty="0">
                <a:solidFill>
                  <a:srgbClr val="0F5666"/>
                </a:solidFill>
                <a:latin typeface="Ebrima"/>
                <a:cs typeface="Ebrima"/>
              </a:rPr>
              <a:t>BLOCK</a:t>
            </a:r>
            <a:r>
              <a:rPr sz="3200" b="1" spc="-10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b="1" spc="-10" dirty="0">
                <a:solidFill>
                  <a:srgbClr val="0F5666"/>
                </a:solidFill>
                <a:latin typeface="Ebrima"/>
                <a:cs typeface="Ebrima"/>
              </a:rPr>
              <a:t>ELEMENT.</a:t>
            </a:r>
            <a:endParaRPr sz="32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b="1" dirty="0">
                <a:solidFill>
                  <a:srgbClr val="0F5666"/>
                </a:solidFill>
                <a:latin typeface="Ebrima"/>
                <a:cs typeface="Ebrima"/>
              </a:rPr>
              <a:t>INLINE</a:t>
            </a:r>
            <a:r>
              <a:rPr sz="3200" b="1" spc="-3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b="1" spc="-10" dirty="0">
                <a:solidFill>
                  <a:srgbClr val="0F5666"/>
                </a:solidFill>
                <a:latin typeface="Ebrima"/>
                <a:cs typeface="Ebrima"/>
              </a:rPr>
              <a:t>ELEMENET.</a:t>
            </a:r>
            <a:endParaRPr sz="3200">
              <a:latin typeface="Ebrima"/>
              <a:cs typeface="Ebrima"/>
            </a:endParaRPr>
          </a:p>
          <a:p>
            <a:pPr marL="527050">
              <a:lnSpc>
                <a:spcPct val="100000"/>
              </a:lnSpc>
              <a:spcBef>
                <a:spcPts val="705"/>
              </a:spcBef>
            </a:pPr>
            <a:r>
              <a:rPr sz="3200" b="1" dirty="0">
                <a:latin typeface="Ebrima"/>
                <a:cs typeface="Ebrima"/>
              </a:rPr>
              <a:t>use</a:t>
            </a:r>
            <a:r>
              <a:rPr sz="3200" b="1" spc="-50" dirty="0">
                <a:latin typeface="Ebrima"/>
                <a:cs typeface="Ebrima"/>
              </a:rPr>
              <a:t> </a:t>
            </a:r>
            <a:r>
              <a:rPr sz="3200" b="1" dirty="0">
                <a:latin typeface="Ebrima"/>
                <a:cs typeface="Ebrima"/>
              </a:rPr>
              <a:t>Ex:</a:t>
            </a:r>
            <a:r>
              <a:rPr sz="3200" b="1" spc="-60" dirty="0"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display:</a:t>
            </a:r>
            <a:r>
              <a:rPr sz="3200" b="1" spc="-4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block</a:t>
            </a:r>
            <a:r>
              <a:rPr sz="3200" b="1" spc="-4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|</a:t>
            </a:r>
            <a:r>
              <a:rPr sz="3200" b="1" spc="-5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inline</a:t>
            </a:r>
            <a:r>
              <a:rPr sz="3200" b="1" spc="-3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|</a:t>
            </a:r>
            <a:r>
              <a:rPr sz="3200" b="1" spc="-5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spc="-10" dirty="0">
                <a:solidFill>
                  <a:srgbClr val="21798F"/>
                </a:solidFill>
                <a:latin typeface="Ebrima"/>
                <a:cs typeface="Ebrima"/>
              </a:rPr>
              <a:t>none;</a:t>
            </a:r>
            <a:endParaRPr sz="32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Practice!</a:t>
            </a:r>
            <a:r>
              <a:rPr spc="-35" dirty="0"/>
              <a:t> </a:t>
            </a:r>
            <a:r>
              <a:rPr spc="-400" dirty="0"/>
              <a:t>Practice!</a:t>
            </a:r>
            <a:r>
              <a:rPr spc="-35" dirty="0"/>
              <a:t> </a:t>
            </a:r>
            <a:r>
              <a:rPr spc="-430" dirty="0"/>
              <a:t>Practice!!!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504950"/>
            <a:ext cx="3246120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19150"/>
            <a:ext cx="8153400" cy="4324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5000" y="4938316"/>
            <a:ext cx="47618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ehedi Alam</a:t>
            </a:r>
            <a:r>
              <a:rPr sz="14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spc="-90" dirty="0">
                <a:solidFill>
                  <a:srgbClr val="0000FF"/>
                </a:solidFill>
                <a:latin typeface="Arial MT"/>
                <a:cs typeface="Arial MT"/>
              </a:rPr>
              <a:t>mehedialam806@gmail.com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- NHRDF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370</Words>
  <Application>Microsoft Office PowerPoint</Application>
  <PresentationFormat>On-screen Show (16:9)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Ebrima</vt:lpstr>
      <vt:lpstr>Times New Roman</vt:lpstr>
      <vt:lpstr>Office Theme</vt:lpstr>
      <vt:lpstr>Welcome to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Practice! Practice! Practice!!!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Web Design</dc:creator>
  <cp:lastModifiedBy>Turnago 1</cp:lastModifiedBy>
  <cp:revision>24</cp:revision>
  <dcterms:created xsi:type="dcterms:W3CDTF">2025-09-30T15:35:31Z</dcterms:created>
  <dcterms:modified xsi:type="dcterms:W3CDTF">2026-02-22T10:38:17Z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